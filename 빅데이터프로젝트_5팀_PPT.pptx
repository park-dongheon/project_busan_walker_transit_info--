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5"/>
  </p:notesMasterIdLst>
  <p:sldIdLst>
    <p:sldId id="256" r:id="rId2"/>
    <p:sldId id="257" r:id="rId3"/>
    <p:sldId id="457" r:id="rId4"/>
    <p:sldId id="264" r:id="rId5"/>
    <p:sldId id="392" r:id="rId6"/>
    <p:sldId id="393" r:id="rId7"/>
    <p:sldId id="394" r:id="rId8"/>
    <p:sldId id="455" r:id="rId9"/>
    <p:sldId id="391" r:id="rId10"/>
    <p:sldId id="390" r:id="rId11"/>
    <p:sldId id="443" r:id="rId12"/>
    <p:sldId id="444" r:id="rId13"/>
    <p:sldId id="445" r:id="rId14"/>
    <p:sldId id="446" r:id="rId15"/>
    <p:sldId id="447" r:id="rId16"/>
    <p:sldId id="448" r:id="rId17"/>
    <p:sldId id="449" r:id="rId18"/>
    <p:sldId id="451" r:id="rId19"/>
    <p:sldId id="450" r:id="rId20"/>
    <p:sldId id="453" r:id="rId21"/>
    <p:sldId id="452" r:id="rId22"/>
    <p:sldId id="284" r:id="rId23"/>
    <p:sldId id="395" r:id="rId24"/>
    <p:sldId id="403" r:id="rId25"/>
    <p:sldId id="285" r:id="rId26"/>
    <p:sldId id="414" r:id="rId27"/>
    <p:sldId id="439" r:id="rId28"/>
    <p:sldId id="440" r:id="rId29"/>
    <p:sldId id="441" r:id="rId30"/>
    <p:sldId id="415" r:id="rId31"/>
    <p:sldId id="416" r:id="rId32"/>
    <p:sldId id="419" r:id="rId33"/>
    <p:sldId id="420" r:id="rId34"/>
    <p:sldId id="442" r:id="rId35"/>
    <p:sldId id="421" r:id="rId36"/>
    <p:sldId id="417" r:id="rId37"/>
    <p:sldId id="422" r:id="rId38"/>
    <p:sldId id="423" r:id="rId39"/>
    <p:sldId id="424" r:id="rId40"/>
    <p:sldId id="425" r:id="rId41"/>
    <p:sldId id="418" r:id="rId42"/>
    <p:sldId id="427" r:id="rId43"/>
    <p:sldId id="428" r:id="rId44"/>
    <p:sldId id="429" r:id="rId45"/>
    <p:sldId id="430" r:id="rId46"/>
    <p:sldId id="431" r:id="rId47"/>
    <p:sldId id="432" r:id="rId48"/>
    <p:sldId id="435" r:id="rId49"/>
    <p:sldId id="434" r:id="rId50"/>
    <p:sldId id="287" r:id="rId51"/>
    <p:sldId id="288" r:id="rId52"/>
    <p:sldId id="454" r:id="rId53"/>
    <p:sldId id="289" r:id="rId54"/>
    <p:sldId id="436" r:id="rId55"/>
    <p:sldId id="397" r:id="rId56"/>
    <p:sldId id="399" r:id="rId57"/>
    <p:sldId id="398" r:id="rId58"/>
    <p:sldId id="400" r:id="rId59"/>
    <p:sldId id="437" r:id="rId60"/>
    <p:sldId id="438" r:id="rId61"/>
    <p:sldId id="458" r:id="rId62"/>
    <p:sldId id="276" r:id="rId63"/>
    <p:sldId id="456" r:id="rId64"/>
  </p:sldIdLst>
  <p:sldSz cx="18288000" cy="10287000"/>
  <p:notesSz cx="6858000" cy="9144000"/>
  <p:embeddedFontLst>
    <p:embeddedFont>
      <p:font typeface="Heebo" pitchFamily="2" charset="-79"/>
      <p:regular r:id="rId66"/>
      <p:bold r:id="rId67"/>
    </p:embeddedFont>
    <p:embeddedFont>
      <p:font typeface="Heebo Black" pitchFamily="2" charset="-79"/>
      <p:bold r:id="rId68"/>
    </p:embeddedFont>
    <p:embeddedFont>
      <p:font typeface="맑은 고딕" panose="020B0503020000020004" pitchFamily="50" charset="-127"/>
      <p:regular r:id="rId69"/>
      <p:bold r:id="rId70"/>
    </p:embeddedFont>
    <p:embeddedFont>
      <p:font typeface="맑은 고딕" panose="020B0503020000020004" pitchFamily="50" charset="-127"/>
      <p:regular r:id="rId69"/>
      <p:bold r:id="rId70"/>
    </p:embeddedFont>
    <p:embeddedFont>
      <p:font typeface="휴먼엑스포" panose="02030504000101010101" pitchFamily="18" charset="-127"/>
      <p:regular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6FBF"/>
    <a:srgbClr val="4F81BD"/>
    <a:srgbClr val="262626"/>
    <a:srgbClr val="617A98"/>
    <a:srgbClr val="7B9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DD9129-B136-4D1E-8867-87446E5F62A1}">
  <a:tblStyle styleId="{A8DD9129-B136-4D1E-8867-87446E5F62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76937" autoAdjust="0"/>
  </p:normalViewPr>
  <p:slideViewPr>
    <p:cSldViewPr snapToGrid="0">
      <p:cViewPr>
        <p:scale>
          <a:sx n="33" d="100"/>
          <a:sy n="33" d="100"/>
        </p:scale>
        <p:origin x="1518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175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830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9516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5706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다이어그램은 시스템의 전체 아키텍처를 보여줍니다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프론트엔드는</a:t>
            </a:r>
            <a:r>
              <a:rPr lang="ko-KR" altLang="en-US" dirty="0"/>
              <a:t> </a:t>
            </a:r>
            <a:r>
              <a:rPr lang="en-US" altLang="ko-KR" dirty="0"/>
              <a:t>React</a:t>
            </a:r>
            <a:r>
              <a:rPr lang="ko-KR" altLang="en-US" dirty="0"/>
              <a:t>로 구성되었고</a:t>
            </a:r>
            <a:r>
              <a:rPr lang="en-US" altLang="ko-KR" dirty="0"/>
              <a:t>, </a:t>
            </a:r>
            <a:r>
              <a:rPr lang="ko-KR" altLang="en-US" dirty="0" err="1"/>
              <a:t>백엔드는</a:t>
            </a:r>
            <a:r>
              <a:rPr lang="ko-KR" altLang="en-US" dirty="0"/>
              <a:t> </a:t>
            </a:r>
            <a:r>
              <a:rPr lang="en-US" altLang="ko-KR" dirty="0"/>
              <a:t>Spring Boot</a:t>
            </a:r>
            <a:r>
              <a:rPr lang="ko-KR" altLang="en-US" dirty="0"/>
              <a:t>로 구축되어 있으며</a:t>
            </a:r>
            <a:r>
              <a:rPr lang="en-US" altLang="ko-KR" dirty="0"/>
              <a:t>, </a:t>
            </a:r>
            <a:r>
              <a:rPr lang="ko-KR" altLang="en-US" dirty="0"/>
              <a:t>사용자 인증은 </a:t>
            </a:r>
            <a:r>
              <a:rPr lang="en-US" altLang="ko-KR" dirty="0"/>
              <a:t>JWT</a:t>
            </a:r>
            <a:r>
              <a:rPr lang="ko-KR" altLang="en-US" dirty="0"/>
              <a:t>를 통해 관리됩니다</a:t>
            </a:r>
            <a:r>
              <a:rPr lang="en-US" altLang="ko-KR" dirty="0"/>
              <a:t>. </a:t>
            </a:r>
            <a:r>
              <a:rPr lang="ko-KR" altLang="en-US" dirty="0"/>
              <a:t>클라이언트와 서버 간의 데이터 통신은 </a:t>
            </a:r>
            <a:r>
              <a:rPr lang="en-US" altLang="ko-KR" dirty="0"/>
              <a:t>REST API</a:t>
            </a:r>
            <a:r>
              <a:rPr lang="ko-KR" altLang="en-US" dirty="0"/>
              <a:t>를 통해 이루어집니다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0201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2829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 화면은 사용자에게 직관적이고 시각적인 방법으로 부산의 주요 관광지 정보를 제공하며</a:t>
            </a:r>
            <a:r>
              <a:rPr lang="en-US" altLang="ko-KR" dirty="0"/>
              <a:t>, </a:t>
            </a:r>
            <a:r>
              <a:rPr lang="ko-KR" altLang="en-US" dirty="0"/>
              <a:t>사용자가 필요한 정보를 쉽게 검색하고 접근할 수 있도록 설계되었습니다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</a:t>
            </a:r>
            <a:r>
              <a:rPr lang="ko-KR" altLang="en-US" dirty="0"/>
              <a:t> 부분에서는 사용자와의 상호작용을 관리하고</a:t>
            </a:r>
            <a:r>
              <a:rPr lang="en-US" altLang="ko-KR" dirty="0"/>
              <a:t>, </a:t>
            </a:r>
            <a:r>
              <a:rPr lang="ko-KR" altLang="en-US" dirty="0" err="1"/>
              <a:t>백엔드</a:t>
            </a:r>
            <a:r>
              <a:rPr lang="ko-KR" altLang="en-US" dirty="0"/>
              <a:t> 부분에서는 데이터베이스에서 데이터를 가져와 필요한 정보를 제공하는 역할을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795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화면은 사용자가 부산의 다양한 관광지를 쉽게 탐색하고</a:t>
            </a:r>
            <a:r>
              <a:rPr lang="en-US" altLang="ko-KR" dirty="0"/>
              <a:t>, </a:t>
            </a:r>
            <a:r>
              <a:rPr lang="ko-KR" altLang="en-US" dirty="0"/>
              <a:t>특정 관광지에 대한 정보를 검색할 수 있도록 설계되었습니다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</a:t>
            </a:r>
            <a:r>
              <a:rPr lang="ko-KR" altLang="en-US" dirty="0"/>
              <a:t> 부분에서는 사용자에게 시각적으로 보기 좋은 형태로 정보를 제공하며</a:t>
            </a:r>
            <a:r>
              <a:rPr lang="en-US" altLang="ko-KR" dirty="0"/>
              <a:t>, </a:t>
            </a:r>
            <a:r>
              <a:rPr lang="ko-KR" altLang="en-US" dirty="0" err="1"/>
              <a:t>백엔드</a:t>
            </a:r>
            <a:r>
              <a:rPr lang="ko-KR" altLang="en-US" dirty="0"/>
              <a:t> 부분에서는 사용자의 요청에 맞는 데이터를 제공하는 역할을 수행합니다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2397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화면은 사용자가 부산의 관광지를 지도를 통해 시각적으로 탐색하고</a:t>
            </a:r>
            <a:r>
              <a:rPr lang="en-US" altLang="ko-KR" dirty="0"/>
              <a:t>, </a:t>
            </a:r>
            <a:r>
              <a:rPr lang="ko-KR" altLang="en-US" dirty="0"/>
              <a:t>그 주변의 대중교통 정보를 실시간으로 확인할 수 있도록 설계되었습니다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프론트엔드에서는</a:t>
            </a:r>
            <a:r>
              <a:rPr lang="ko-KR" altLang="en-US" dirty="0"/>
              <a:t> 사용자가 직관적으로 지도를 탐색할 수 있게 하며</a:t>
            </a:r>
            <a:r>
              <a:rPr lang="en-US" altLang="ko-KR" dirty="0"/>
              <a:t>, </a:t>
            </a:r>
            <a:r>
              <a:rPr lang="ko-KR" altLang="en-US" dirty="0" err="1"/>
              <a:t>백엔드에서는</a:t>
            </a:r>
            <a:r>
              <a:rPr lang="ko-KR" altLang="en-US" dirty="0"/>
              <a:t> 정확한 위치 데이터와 교통수단 정보를 제공하는 역할을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194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화면은 사용자가 게시판에 게시글을 작성하고</a:t>
            </a:r>
            <a:r>
              <a:rPr lang="en-US" altLang="ko-KR" dirty="0"/>
              <a:t>, </a:t>
            </a:r>
            <a:r>
              <a:rPr lang="ko-KR" altLang="en-US" dirty="0"/>
              <a:t>다른 사용자가 작성한 게시글을 탐색할 수 있도록 설계되었습니다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프론트엔드는</a:t>
            </a:r>
            <a:r>
              <a:rPr lang="ko-KR" altLang="en-US" dirty="0"/>
              <a:t> 게시글 목록을 시각적으로 보기 좋게 구성하며</a:t>
            </a:r>
            <a:r>
              <a:rPr lang="en-US" altLang="ko-KR" dirty="0"/>
              <a:t>, </a:t>
            </a:r>
            <a:r>
              <a:rPr lang="ko-KR" altLang="en-US" dirty="0" err="1"/>
              <a:t>백엔드는</a:t>
            </a:r>
            <a:r>
              <a:rPr lang="ko-KR" altLang="en-US" dirty="0"/>
              <a:t> 데이터베이스에서 게시글 데이터를 관리하고 필요한 데이터를 실시간으로 제공하는 역할을 수행합니다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4903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화면은 사용자가 게시글의 상세 내용을 확인하고</a:t>
            </a:r>
            <a:r>
              <a:rPr lang="en-US" altLang="ko-KR" dirty="0"/>
              <a:t>, </a:t>
            </a:r>
            <a:r>
              <a:rPr lang="ko-KR" altLang="en-US" dirty="0"/>
              <a:t>댓글을 통해 상호작용하며</a:t>
            </a:r>
            <a:r>
              <a:rPr lang="en-US" altLang="ko-KR" dirty="0"/>
              <a:t>, </a:t>
            </a:r>
            <a:r>
              <a:rPr lang="ko-KR" altLang="en-US" dirty="0" err="1"/>
              <a:t>좋아요를</a:t>
            </a:r>
            <a:r>
              <a:rPr lang="ko-KR" altLang="en-US" dirty="0"/>
              <a:t> 통해 피드백을 줄 수 있도록 설계되었습니다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프론트엔드는</a:t>
            </a:r>
            <a:r>
              <a:rPr lang="ko-KR" altLang="en-US" dirty="0"/>
              <a:t> 사용자 경험을 고려한 직관적인 </a:t>
            </a:r>
            <a:r>
              <a:rPr lang="en-US" altLang="ko-KR" dirty="0"/>
              <a:t>UI</a:t>
            </a:r>
            <a:r>
              <a:rPr lang="ko-KR" altLang="en-US" dirty="0"/>
              <a:t>를 제공하며</a:t>
            </a:r>
            <a:r>
              <a:rPr lang="en-US" altLang="ko-KR" dirty="0"/>
              <a:t>, </a:t>
            </a:r>
            <a:r>
              <a:rPr lang="ko-KR" altLang="en-US" dirty="0" err="1"/>
              <a:t>백엔드는</a:t>
            </a:r>
            <a:r>
              <a:rPr lang="ko-KR" altLang="en-US" dirty="0"/>
              <a:t> 데이터의 정확한 관리를 책임져 실시간 업데이트를 지원합니다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689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화면은 사용자가 자신의 여행 경험을 다른 사람들과 공유할 수 있도록 설계되었습니다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프론트엔드는</a:t>
            </a:r>
            <a:r>
              <a:rPr lang="ko-KR" altLang="en-US" dirty="0"/>
              <a:t> 사용자 친화적인 인터페이스를 제공하여 쉽게 게시글을 작성하고 수정할 수 있도록 하며</a:t>
            </a:r>
            <a:r>
              <a:rPr lang="en-US" altLang="ko-KR" dirty="0"/>
              <a:t>, </a:t>
            </a:r>
            <a:r>
              <a:rPr lang="ko-KR" altLang="en-US" dirty="0" err="1"/>
              <a:t>백엔드는</a:t>
            </a:r>
            <a:r>
              <a:rPr lang="ko-KR" altLang="en-US" dirty="0"/>
              <a:t> 입력된 데이터를 안전하게 저장하고 관리하는 역할을 수행합니다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7940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이와 같이</a:t>
            </a:r>
            <a:r>
              <a:rPr lang="en-US" altLang="ko-KR" dirty="0"/>
              <a:t>, </a:t>
            </a:r>
            <a:r>
              <a:rPr lang="ko-KR" altLang="en-US" dirty="0"/>
              <a:t>마이 페이지는 사용자가 자신의 계정을 관리하고</a:t>
            </a:r>
            <a:r>
              <a:rPr lang="en-US" altLang="ko-KR" dirty="0"/>
              <a:t>, </a:t>
            </a:r>
            <a:r>
              <a:rPr lang="ko-KR" altLang="en-US" dirty="0"/>
              <a:t>작성한 게시글과 댓글을 효율적으로 관리할 수 있도록 설계되었습니다</a:t>
            </a:r>
            <a:r>
              <a:rPr lang="en-US" altLang="ko-KR" dirty="0"/>
              <a:t>. </a:t>
            </a:r>
            <a:r>
              <a:rPr lang="ko-KR" altLang="en-US" dirty="0" err="1"/>
              <a:t>프론트엔드는</a:t>
            </a:r>
            <a:r>
              <a:rPr lang="ko-KR" altLang="en-US" dirty="0"/>
              <a:t> 사용자에게 직관적이고 쉽게 사용할 수 있는 인터페이스를 제공하며</a:t>
            </a:r>
            <a:r>
              <a:rPr lang="en-US" altLang="ko-KR" dirty="0"/>
              <a:t>, </a:t>
            </a:r>
            <a:r>
              <a:rPr lang="ko-KR" altLang="en-US" dirty="0" err="1"/>
              <a:t>백엔드는</a:t>
            </a:r>
            <a:r>
              <a:rPr lang="ko-KR" altLang="en-US" dirty="0"/>
              <a:t> 데이터의 안전한 관리와 신속한 처리에 중점을 두어 사용자 경험을 향상시킵니다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1481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화면은 사용자가 계정에 안전하게 로그인할 수 있도록 설계되었습니다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프론트엔드는</a:t>
            </a:r>
            <a:r>
              <a:rPr lang="ko-KR" altLang="en-US" dirty="0"/>
              <a:t> 사용자 친화적인 인터페이스를 제공하여 쉽게 로그인할 수 있도록 하며</a:t>
            </a:r>
            <a:r>
              <a:rPr lang="en-US" altLang="ko-KR" dirty="0"/>
              <a:t>, </a:t>
            </a:r>
          </a:p>
          <a:p>
            <a:r>
              <a:rPr lang="ko-KR" altLang="en-US" dirty="0" err="1"/>
              <a:t>백엔드는</a:t>
            </a:r>
            <a:r>
              <a:rPr lang="ko-KR" altLang="en-US" dirty="0"/>
              <a:t> 데이터의 안전한 관리를 통해 사용자 인증과 세션 유지를 책임집니다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580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회원가입 화면은 사용자가 안전하게 계정을 생성할 수 있도록 설계되었습니다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프론트엔드는</a:t>
            </a:r>
            <a:r>
              <a:rPr lang="ko-KR" altLang="en-US" dirty="0"/>
              <a:t> 사용자 경험을 고려한 직관적인 인터페이스를 제공하며</a:t>
            </a:r>
            <a:r>
              <a:rPr lang="en-US" altLang="ko-KR" dirty="0"/>
              <a:t>, </a:t>
            </a:r>
          </a:p>
          <a:p>
            <a:r>
              <a:rPr lang="ko-KR" altLang="en-US" dirty="0" err="1"/>
              <a:t>백엔드는</a:t>
            </a:r>
            <a:r>
              <a:rPr lang="ko-KR" altLang="en-US" dirty="0"/>
              <a:t> 데이터의 안전한 관리와 유효성 검사를 통해 신뢰성 있는 회원가입 프로세스를 보장합니다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09062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아이디 찾기 화면은 사용자가 안전하게 계정 정보를 찾을 수 있도록 설계되었습니다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프론트엔드는</a:t>
            </a:r>
            <a:r>
              <a:rPr lang="ko-KR" altLang="en-US" dirty="0"/>
              <a:t> 사용자 경험을 고려한 직관적인 인터페이스를 제공하며</a:t>
            </a:r>
            <a:r>
              <a:rPr lang="en-US" altLang="ko-KR" dirty="0"/>
              <a:t>, </a:t>
            </a:r>
          </a:p>
          <a:p>
            <a:r>
              <a:rPr lang="ko-KR" altLang="en-US" dirty="0" err="1"/>
              <a:t>백엔드는</a:t>
            </a:r>
            <a:r>
              <a:rPr lang="ko-KR" altLang="en-US" dirty="0"/>
              <a:t> 데이터의 안전한 관리와 정확한 이메일 조회를 통해 신뢰성 있는 아이디 찾기 프로세스를 보장합니다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1808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비밀번호 찾기 페이지는 사용자가 이메일을 통해 비밀번호 재설정 링크를 요청할 수 있도록 설계되었습니다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프론트엔드는</a:t>
            </a:r>
            <a:r>
              <a:rPr lang="ko-KR" altLang="en-US" dirty="0"/>
              <a:t> 사용자가 쉽게 이메일을 입력하고 요청을 보낼 수 있는 간단한 인터페이스를 제공하며</a:t>
            </a:r>
            <a:r>
              <a:rPr lang="en-US" altLang="ko-KR" dirty="0"/>
              <a:t>, </a:t>
            </a:r>
          </a:p>
          <a:p>
            <a:r>
              <a:rPr lang="ko-KR" altLang="en-US" dirty="0" err="1"/>
              <a:t>백엔드는</a:t>
            </a:r>
            <a:r>
              <a:rPr lang="ko-KR" altLang="en-US" dirty="0"/>
              <a:t> 입력된 이메일이 유효한지 확인하고 비밀번호 재설정 링크를 생성하여 이메일로 전송하는 작업을 처리합니다</a:t>
            </a:r>
            <a:r>
              <a:rPr lang="en-US" altLang="ko-KR" dirty="0"/>
              <a:t>. </a:t>
            </a:r>
            <a:r>
              <a:rPr lang="ko-KR" altLang="en-US" dirty="0"/>
              <a:t>이를 통해 사용자는 안전하게 비밀번호를 재설정할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806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비밀번호 재설정 페이지는 사용자가 이메일에서 받은 링크를 통해 접근하여 새 비밀번호를 설정할 수 있도록 설계되었습니다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비밀번호 재설정 후 서버는 새로운 </a:t>
            </a:r>
            <a:r>
              <a:rPr lang="en-US" altLang="ko-KR" dirty="0"/>
              <a:t>JWT</a:t>
            </a:r>
            <a:r>
              <a:rPr lang="ko-KR" altLang="en-US" dirty="0"/>
              <a:t>를 발급하고</a:t>
            </a:r>
            <a:r>
              <a:rPr lang="en-US" altLang="ko-KR" dirty="0"/>
              <a:t>, </a:t>
            </a:r>
            <a:r>
              <a:rPr lang="ko-KR" altLang="en-US" dirty="0"/>
              <a:t>클라이언트는 기존 </a:t>
            </a:r>
            <a:r>
              <a:rPr lang="en-US" altLang="ko-KR" dirty="0"/>
              <a:t>JWT</a:t>
            </a:r>
            <a:r>
              <a:rPr lang="ko-KR" altLang="en-US" dirty="0"/>
              <a:t>를 삭제한 후 로그아웃 처리됩니다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이후 사용자는 새로운 자격 증명으로 로그인하여 새로운 </a:t>
            </a:r>
            <a:r>
              <a:rPr lang="en-US" altLang="ko-KR" dirty="0"/>
              <a:t>JWT</a:t>
            </a:r>
            <a:r>
              <a:rPr lang="ko-KR" altLang="en-US" dirty="0"/>
              <a:t>를 로컬 스토리지에 저장함으로써 세션을 안전하게 유지할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7737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2062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01862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4582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413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20425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96398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7430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52542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8355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97332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47879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00549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5403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03349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12609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1565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89795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60950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19710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22732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0954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45104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18614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51393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70795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3031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65458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10075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95949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이 다이어그램은 사용자와 </a:t>
            </a:r>
            <a:r>
              <a:rPr lang="ko-KR" altLang="en-US" dirty="0"/>
              <a:t>게시판 관련 데이터베이스 구조입니다</a:t>
            </a:r>
            <a:r>
              <a:rPr lang="en-US" altLang="ko-KR" dirty="0"/>
              <a:t>. </a:t>
            </a:r>
            <a:r>
              <a:rPr lang="ko-KR" altLang="en-US" dirty="0"/>
              <a:t>사용자 정보는 </a:t>
            </a:r>
            <a:r>
              <a:rPr lang="en-US" altLang="ko-KR" dirty="0"/>
              <a:t>member </a:t>
            </a:r>
            <a:r>
              <a:rPr lang="ko-KR" altLang="en-US" dirty="0"/>
              <a:t>테이블에 저장되며</a:t>
            </a:r>
            <a:r>
              <a:rPr lang="en-US" altLang="ko-KR" dirty="0"/>
              <a:t>, </a:t>
            </a:r>
            <a:r>
              <a:rPr lang="ko-KR" altLang="en-US" dirty="0"/>
              <a:t>각 사용자가 작성한 게시글과 댓글은 </a:t>
            </a:r>
            <a:r>
              <a:rPr lang="en-US" altLang="ko-KR" dirty="0"/>
              <a:t>board</a:t>
            </a:r>
            <a:r>
              <a:rPr lang="ko-KR" altLang="en-US" dirty="0"/>
              <a:t>와 </a:t>
            </a:r>
            <a:r>
              <a:rPr lang="en-US" altLang="ko-KR" dirty="0"/>
              <a:t>comment </a:t>
            </a:r>
            <a:r>
              <a:rPr lang="ko-KR" altLang="en-US" dirty="0"/>
              <a:t>테이블에 기록됩니다</a:t>
            </a:r>
            <a:r>
              <a:rPr lang="en-US" altLang="ko-KR" dirty="0"/>
              <a:t>. </a:t>
            </a:r>
            <a:r>
              <a:rPr lang="ko-KR" altLang="en-US" dirty="0"/>
              <a:t>이 구조는 게시판 기능을 지원하며</a:t>
            </a:r>
            <a:r>
              <a:rPr lang="en-US" altLang="ko-KR" dirty="0"/>
              <a:t>, JWT </a:t>
            </a:r>
            <a:r>
              <a:rPr lang="ko-KR" altLang="en-US" dirty="0"/>
              <a:t>기반의 인증은 </a:t>
            </a:r>
            <a:r>
              <a:rPr lang="en-US" altLang="ko-KR" dirty="0"/>
              <a:t>token </a:t>
            </a:r>
            <a:r>
              <a:rPr lang="ko-KR" altLang="en-US" dirty="0"/>
              <a:t>테이블을 통해 관리됩니다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2200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다음으로는 관광지 정보와 관련된 데이터베이스 구조를 보여줍니다</a:t>
            </a:r>
            <a:r>
              <a:rPr lang="en-US" altLang="ko-KR" dirty="0"/>
              <a:t>. </a:t>
            </a:r>
            <a:r>
              <a:rPr lang="ko-KR" altLang="en-US" dirty="0"/>
              <a:t>주요 테이블로는 </a:t>
            </a:r>
            <a:r>
              <a:rPr lang="en-US" altLang="ko-KR" dirty="0" err="1"/>
              <a:t>location_info_data</a:t>
            </a:r>
            <a:r>
              <a:rPr lang="en-US" altLang="ko-KR" dirty="0"/>
              <a:t>, </a:t>
            </a:r>
            <a:r>
              <a:rPr lang="en-US" altLang="ko-KR" dirty="0" err="1"/>
              <a:t>location_tour_trans</a:t>
            </a:r>
            <a:r>
              <a:rPr lang="en-US" altLang="ko-KR" dirty="0"/>
              <a:t>, </a:t>
            </a:r>
            <a:r>
              <a:rPr lang="en-US" altLang="ko-KR" dirty="0" err="1"/>
              <a:t>trans_info_data</a:t>
            </a:r>
            <a:r>
              <a:rPr lang="ko-KR" altLang="en-US" dirty="0"/>
              <a:t>가 있으며</a:t>
            </a:r>
            <a:r>
              <a:rPr lang="en-US" altLang="ko-KR" dirty="0"/>
              <a:t>, </a:t>
            </a:r>
            <a:r>
              <a:rPr lang="ko-KR" altLang="en-US" dirty="0"/>
              <a:t>이들 간의 관계를 통해 관광지와 관련된 정보를 효과적으로 관리할 수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07214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02969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87874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666910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60183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902078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40808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183738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91353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2802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6514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빈화면+상세설명" userDrawn="1">
  <p:cSld name="빈화면+상세설명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oogle Shape;24;p46"/>
          <p:cNvGraphicFramePr/>
          <p:nvPr>
            <p:extLst>
              <p:ext uri="{D42A27DB-BD31-4B8C-83A1-F6EECF244321}">
                <p14:modId xmlns:p14="http://schemas.microsoft.com/office/powerpoint/2010/main" val="3814465973"/>
              </p:ext>
            </p:extLst>
          </p:nvPr>
        </p:nvGraphicFramePr>
        <p:xfrm>
          <a:off x="13434130" y="590555"/>
          <a:ext cx="4676063" cy="958930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67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893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5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888" marR="182888" marT="68580" marB="6858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Google Shape;25;p46"/>
          <p:cNvGraphicFramePr/>
          <p:nvPr>
            <p:extLst>
              <p:ext uri="{D42A27DB-BD31-4B8C-83A1-F6EECF244321}">
                <p14:modId xmlns:p14="http://schemas.microsoft.com/office/powerpoint/2010/main" val="705449667"/>
              </p:ext>
            </p:extLst>
          </p:nvPr>
        </p:nvGraphicFramePr>
        <p:xfrm>
          <a:off x="139710" y="590558"/>
          <a:ext cx="13198662" cy="958930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9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893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5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2888" marR="182888" marT="68580" marB="68580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oogle Shape;26;p46"/>
          <p:cNvGraphicFramePr/>
          <p:nvPr>
            <p:extLst>
              <p:ext uri="{D42A27DB-BD31-4B8C-83A1-F6EECF244321}">
                <p14:modId xmlns:p14="http://schemas.microsoft.com/office/powerpoint/2010/main" val="2623342793"/>
              </p:ext>
            </p:extLst>
          </p:nvPr>
        </p:nvGraphicFramePr>
        <p:xfrm>
          <a:off x="142538" y="107141"/>
          <a:ext cx="13195836" cy="3691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37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0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1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</a:t>
                      </a:r>
                      <a:endParaRPr sz="1800" u="none" strike="noStrike" cap="none" dirty="0"/>
                    </a:p>
                  </a:txBody>
                  <a:tcPr marL="182888" marR="182888" marT="68580" marB="6858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888" marR="182888" marT="68580" marB="6858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888" marR="182888" marT="68580" marB="6858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Gulim"/>
                        <a:buNone/>
                      </a:pP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888" marR="182888" marT="68580" marB="6858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Google Shape;27;p46"/>
          <p:cNvGraphicFramePr/>
          <p:nvPr>
            <p:extLst>
              <p:ext uri="{D42A27DB-BD31-4B8C-83A1-F6EECF244321}">
                <p14:modId xmlns:p14="http://schemas.microsoft.com/office/powerpoint/2010/main" val="388461848"/>
              </p:ext>
            </p:extLst>
          </p:nvPr>
        </p:nvGraphicFramePr>
        <p:xfrm>
          <a:off x="13434172" y="95254"/>
          <a:ext cx="4676063" cy="3691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3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1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12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800" u="none" strike="noStrike" cap="none" dirty="0"/>
                    </a:p>
                  </a:txBody>
                  <a:tcPr marL="182888" marR="182888" marT="68580" marB="6858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Gulim"/>
                        <a:buNone/>
                      </a:pP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888" marR="182888" marT="68580" marB="6858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007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94">
          <p15:clr>
            <a:srgbClr val="FBAE40"/>
          </p15:clr>
        </p15:guide>
        <p15:guide id="2" pos="44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igdata-culture.kr/bigdata/user/data_market/detail.do?id=43ec2b60-4c80-11ee-9c85-79328b35313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C9E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498406" y="353744"/>
            <a:ext cx="17291187" cy="9434848"/>
            <a:chOff x="0" y="-38100"/>
            <a:chExt cx="4554058" cy="2484898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554058" cy="2446798"/>
            </a:xfrm>
            <a:custGeom>
              <a:avLst/>
              <a:gdLst/>
              <a:ahLst/>
              <a:cxnLst/>
              <a:rect l="l" t="t" r="r" b="b"/>
              <a:pathLst>
                <a:path w="4554058" h="2446798" extrusionOk="0">
                  <a:moveTo>
                    <a:pt x="12984" y="0"/>
                  </a:moveTo>
                  <a:lnTo>
                    <a:pt x="4541073" y="0"/>
                  </a:lnTo>
                  <a:cubicBezTo>
                    <a:pt x="4544517" y="0"/>
                    <a:pt x="4547820" y="1368"/>
                    <a:pt x="4550255" y="3803"/>
                  </a:cubicBezTo>
                  <a:cubicBezTo>
                    <a:pt x="4552690" y="6238"/>
                    <a:pt x="4554058" y="9541"/>
                    <a:pt x="4554058" y="12984"/>
                  </a:cubicBezTo>
                  <a:lnTo>
                    <a:pt x="4554058" y="2433814"/>
                  </a:lnTo>
                  <a:cubicBezTo>
                    <a:pt x="4554058" y="2440985"/>
                    <a:pt x="4548244" y="2446798"/>
                    <a:pt x="4541073" y="2446798"/>
                  </a:cubicBezTo>
                  <a:lnTo>
                    <a:pt x="12984" y="2446798"/>
                  </a:lnTo>
                  <a:cubicBezTo>
                    <a:pt x="9541" y="2446798"/>
                    <a:pt x="6238" y="2445430"/>
                    <a:pt x="3803" y="2442995"/>
                  </a:cubicBezTo>
                  <a:cubicBezTo>
                    <a:pt x="1368" y="2440560"/>
                    <a:pt x="0" y="2437258"/>
                    <a:pt x="0" y="2433814"/>
                  </a:cubicBezTo>
                  <a:lnTo>
                    <a:pt x="0" y="12984"/>
                  </a:lnTo>
                  <a:cubicBezTo>
                    <a:pt x="0" y="5813"/>
                    <a:pt x="5813" y="0"/>
                    <a:pt x="12984" y="0"/>
                  </a:cubicBezTo>
                  <a:close/>
                </a:path>
              </a:pathLst>
            </a:custGeom>
            <a:solidFill>
              <a:srgbClr val="FFFFFF"/>
            </a:solidFill>
            <a:ln w="57150" cap="flat" cmpd="sng">
              <a:solidFill>
                <a:srgbClr val="4C6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0" y="7561385"/>
            <a:ext cx="18288000" cy="2801770"/>
          </a:xfrm>
          <a:custGeom>
            <a:avLst/>
            <a:gdLst/>
            <a:ahLst/>
            <a:cxnLst/>
            <a:rect l="l" t="t" r="r" b="b"/>
            <a:pathLst>
              <a:path w="2170928" h="182124" extrusionOk="0">
                <a:moveTo>
                  <a:pt x="0" y="0"/>
                </a:moveTo>
                <a:lnTo>
                  <a:pt x="2170928" y="0"/>
                </a:lnTo>
                <a:lnTo>
                  <a:pt x="2170928" y="182124"/>
                </a:lnTo>
                <a:lnTo>
                  <a:pt x="0" y="182124"/>
                </a:lnTo>
                <a:close/>
              </a:path>
            </a:pathLst>
          </a:custGeom>
          <a:solidFill>
            <a:srgbClr val="B1C9EB"/>
          </a:solidFill>
          <a:ln>
            <a:noFill/>
          </a:ln>
        </p:spPr>
      </p:sp>
      <p:sp>
        <p:nvSpPr>
          <p:cNvPr id="89" name="Google Shape;89;p13"/>
          <p:cNvSpPr txBox="1"/>
          <p:nvPr/>
        </p:nvSpPr>
        <p:spPr>
          <a:xfrm>
            <a:off x="590473" y="1042889"/>
            <a:ext cx="17146513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b="0" i="0" u="none" strike="noStrike" cap="none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빅데이터 웹서비스 </a:t>
            </a:r>
            <a:r>
              <a:rPr lang="ko-KR" altLang="en-US" sz="8800" b="1" i="0" u="none" strike="noStrike" cap="none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 Black"/>
              </a:rPr>
              <a:t>프로젝트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9284" y="2960724"/>
            <a:ext cx="17146514" cy="90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000" dirty="0">
                <a:solidFill>
                  <a:srgbClr val="B1C9EB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부산광역시 도보여행자를 위한 관광지 교통정보 웹 서비스</a:t>
            </a:r>
            <a:endParaRPr sz="50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118951" y="5143499"/>
            <a:ext cx="7943060" cy="4645093"/>
          </a:xfrm>
          <a:custGeom>
            <a:avLst/>
            <a:gdLst/>
            <a:ahLst/>
            <a:cxnLst/>
            <a:rect l="l" t="t" r="r" b="b"/>
            <a:pathLst>
              <a:path w="9894734" h="7247735" extrusionOk="0">
                <a:moveTo>
                  <a:pt x="0" y="0"/>
                </a:moveTo>
                <a:lnTo>
                  <a:pt x="9894734" y="0"/>
                </a:lnTo>
                <a:lnTo>
                  <a:pt x="9894734" y="7247736"/>
                </a:lnTo>
                <a:lnTo>
                  <a:pt x="0" y="7247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3"/>
          <p:cNvSpPr txBox="1"/>
          <p:nvPr/>
        </p:nvSpPr>
        <p:spPr>
          <a:xfrm>
            <a:off x="1399654" y="8473620"/>
            <a:ext cx="31869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chemeClr val="bg1"/>
                </a:solidFill>
                <a:latin typeface="Heebo"/>
                <a:ea typeface="Heebo"/>
                <a:cs typeface="Heebo"/>
                <a:sym typeface="Heebo"/>
              </a:rPr>
              <a:t>Aug </a:t>
            </a:r>
            <a:r>
              <a:rPr lang="en-US" sz="3500" b="1" dirty="0">
                <a:solidFill>
                  <a:schemeClr val="bg1"/>
                </a:solidFill>
                <a:latin typeface="Heebo"/>
                <a:ea typeface="Heebo"/>
                <a:cs typeface="Heebo"/>
                <a:sym typeface="Heebo"/>
              </a:rPr>
              <a:t>23</a:t>
            </a:r>
            <a:r>
              <a:rPr lang="en-US" sz="3500" b="1" i="0" u="none" strike="noStrike" cap="none" dirty="0">
                <a:solidFill>
                  <a:schemeClr val="bg1"/>
                </a:solidFill>
                <a:latin typeface="Heebo"/>
                <a:ea typeface="Heebo"/>
                <a:cs typeface="Heebo"/>
                <a:sym typeface="Heebo"/>
              </a:rPr>
              <a:t> 2024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3062010" y="7778205"/>
            <a:ext cx="4872255" cy="190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8002"/>
              </a:lnSpc>
            </a:pPr>
            <a:r>
              <a:rPr lang="en-US" sz="3500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"/>
              </a:rPr>
              <a:t>Back End : </a:t>
            </a:r>
            <a:r>
              <a:rPr lang="ko-KR" altLang="en-US" sz="3500" dirty="0" err="1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"/>
              </a:rPr>
              <a:t>한창록</a:t>
            </a:r>
            <a:endParaRPr lang="en-US" altLang="ko-KR" sz="3500" dirty="0">
              <a:solidFill>
                <a:schemeClr val="bg1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 Black"/>
              <a:sym typeface="Heebo"/>
            </a:endParaRPr>
          </a:p>
          <a:p>
            <a:pPr algn="ctr">
              <a:lnSpc>
                <a:spcPct val="118002"/>
              </a:lnSpc>
            </a:pPr>
            <a:endParaRPr lang="en-US" altLang="ko-KR" sz="3500" dirty="0">
              <a:solidFill>
                <a:schemeClr val="bg1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 Black"/>
              <a:sym typeface="Heebo"/>
            </a:endParaRPr>
          </a:p>
          <a:p>
            <a:pPr algn="ctr">
              <a:lnSpc>
                <a:spcPct val="118002"/>
              </a:lnSpc>
            </a:pPr>
            <a:r>
              <a:rPr lang="en-US" sz="3500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"/>
              </a:rPr>
              <a:t>Front End : </a:t>
            </a:r>
            <a:r>
              <a:rPr lang="ko-KR" altLang="en-US" sz="3500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"/>
              </a:rPr>
              <a:t>박동헌</a:t>
            </a:r>
            <a:endParaRPr lang="en-US" altLang="ko-KR" sz="3500" dirty="0">
              <a:solidFill>
                <a:schemeClr val="bg1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 Black"/>
              <a:sym typeface="Heeb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C9EB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18;p15">
            <a:extLst>
              <a:ext uri="{FF2B5EF4-FFF2-40B4-BE49-F238E27FC236}">
                <a16:creationId xmlns:a16="http://schemas.microsoft.com/office/drawing/2014/main" id="{6B845B97-3924-5C8D-9072-0D4DE6F27C67}"/>
              </a:ext>
            </a:extLst>
          </p:cNvPr>
          <p:cNvGrpSpPr/>
          <p:nvPr/>
        </p:nvGrpSpPr>
        <p:grpSpPr>
          <a:xfrm>
            <a:off x="498406" y="353745"/>
            <a:ext cx="17291187" cy="9434848"/>
            <a:chOff x="0" y="-38100"/>
            <a:chExt cx="4554058" cy="2484898"/>
          </a:xfrm>
        </p:grpSpPr>
        <p:sp>
          <p:nvSpPr>
            <p:cNvPr id="13" name="Google Shape;119;p15">
              <a:extLst>
                <a:ext uri="{FF2B5EF4-FFF2-40B4-BE49-F238E27FC236}">
                  <a16:creationId xmlns:a16="http://schemas.microsoft.com/office/drawing/2014/main" id="{1B89F406-BA86-389F-B260-E26C13033CC6}"/>
                </a:ext>
              </a:extLst>
            </p:cNvPr>
            <p:cNvSpPr/>
            <p:nvPr/>
          </p:nvSpPr>
          <p:spPr>
            <a:xfrm>
              <a:off x="0" y="0"/>
              <a:ext cx="4554058" cy="2446798"/>
            </a:xfrm>
            <a:custGeom>
              <a:avLst/>
              <a:gdLst/>
              <a:ahLst/>
              <a:cxnLst/>
              <a:rect l="l" t="t" r="r" b="b"/>
              <a:pathLst>
                <a:path w="4554058" h="2446798" extrusionOk="0">
                  <a:moveTo>
                    <a:pt x="12984" y="0"/>
                  </a:moveTo>
                  <a:lnTo>
                    <a:pt x="4541073" y="0"/>
                  </a:lnTo>
                  <a:cubicBezTo>
                    <a:pt x="4544517" y="0"/>
                    <a:pt x="4547820" y="1368"/>
                    <a:pt x="4550255" y="3803"/>
                  </a:cubicBezTo>
                  <a:cubicBezTo>
                    <a:pt x="4552690" y="6238"/>
                    <a:pt x="4554058" y="9541"/>
                    <a:pt x="4554058" y="12984"/>
                  </a:cubicBezTo>
                  <a:lnTo>
                    <a:pt x="4554058" y="2433814"/>
                  </a:lnTo>
                  <a:cubicBezTo>
                    <a:pt x="4554058" y="2440985"/>
                    <a:pt x="4548244" y="2446798"/>
                    <a:pt x="4541073" y="2446798"/>
                  </a:cubicBezTo>
                  <a:lnTo>
                    <a:pt x="12984" y="2446798"/>
                  </a:lnTo>
                  <a:cubicBezTo>
                    <a:pt x="9541" y="2446798"/>
                    <a:pt x="6238" y="2445430"/>
                    <a:pt x="3803" y="2442995"/>
                  </a:cubicBezTo>
                  <a:cubicBezTo>
                    <a:pt x="1368" y="2440560"/>
                    <a:pt x="0" y="2437258"/>
                    <a:pt x="0" y="2433814"/>
                  </a:cubicBezTo>
                  <a:lnTo>
                    <a:pt x="0" y="12984"/>
                  </a:lnTo>
                  <a:cubicBezTo>
                    <a:pt x="0" y="5813"/>
                    <a:pt x="5813" y="0"/>
                    <a:pt x="12984" y="0"/>
                  </a:cubicBezTo>
                  <a:close/>
                </a:path>
              </a:pathLst>
            </a:custGeom>
            <a:solidFill>
              <a:srgbClr val="FFFFFF"/>
            </a:solidFill>
            <a:ln w="57150" cap="flat" cmpd="sng">
              <a:solidFill>
                <a:srgbClr val="4C6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1C91F262-0F66-B6C5-0EFA-069CD8C34F2E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4"/>
          <p:cNvSpPr/>
          <p:nvPr/>
        </p:nvSpPr>
        <p:spPr>
          <a:xfrm>
            <a:off x="13467801" y="6396771"/>
            <a:ext cx="4249456" cy="3272081"/>
          </a:xfrm>
          <a:custGeom>
            <a:avLst/>
            <a:gdLst/>
            <a:ahLst/>
            <a:cxnLst/>
            <a:rect l="l" t="t" r="r" b="b"/>
            <a:pathLst>
              <a:path w="4249456" h="3272081" extrusionOk="0">
                <a:moveTo>
                  <a:pt x="0" y="0"/>
                </a:moveTo>
                <a:lnTo>
                  <a:pt x="4249456" y="0"/>
                </a:lnTo>
                <a:lnTo>
                  <a:pt x="4249456" y="3272081"/>
                </a:lnTo>
                <a:lnTo>
                  <a:pt x="0" y="3272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" name="Google Shape;89;p13">
            <a:extLst>
              <a:ext uri="{FF2B5EF4-FFF2-40B4-BE49-F238E27FC236}">
                <a16:creationId xmlns:a16="http://schemas.microsoft.com/office/drawing/2014/main" id="{8B2DDBBB-7132-ED46-8373-C7D4DA622D99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목차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A58CC8F3-3822-8F4F-D4EB-6B991D756430}"/>
              </a:ext>
            </a:extLst>
          </p:cNvPr>
          <p:cNvSpPr txBox="1"/>
          <p:nvPr/>
        </p:nvSpPr>
        <p:spPr>
          <a:xfrm>
            <a:off x="548684" y="2721298"/>
            <a:ext cx="17291187" cy="710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18002"/>
              </a:lnSpc>
              <a:buNone/>
              <a:defRPr sz="5000">
                <a:solidFill>
                  <a:srgbClr val="B1C9EB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4400" spc="100" dirty="0"/>
              <a:t>활용데이터</a:t>
            </a:r>
            <a:endParaRPr lang="en-US" altLang="ko-KR" sz="4400" spc="100" dirty="0"/>
          </a:p>
          <a:p>
            <a:pPr>
              <a:lnSpc>
                <a:spcPct val="150000"/>
              </a:lnSpc>
            </a:pPr>
            <a:r>
              <a:rPr lang="ko-KR" altLang="en-US" sz="4400" spc="100" dirty="0"/>
              <a:t>프로젝트 개요</a:t>
            </a:r>
            <a:endParaRPr lang="en-US" altLang="ko-KR" sz="4400" spc="100" dirty="0"/>
          </a:p>
          <a:p>
            <a:pPr>
              <a:lnSpc>
                <a:spcPct val="150000"/>
              </a:lnSpc>
            </a:pPr>
            <a:r>
              <a:rPr lang="ko-KR" altLang="en-US" sz="4400" spc="100" dirty="0"/>
              <a:t>기능요구사항  </a:t>
            </a:r>
            <a:endParaRPr lang="en-US" altLang="ko-KR" sz="4400" spc="100" dirty="0"/>
          </a:p>
          <a:p>
            <a:pPr>
              <a:lnSpc>
                <a:spcPct val="150000"/>
              </a:lnSpc>
            </a:pPr>
            <a:r>
              <a:rPr lang="ko-KR" altLang="en-US" sz="4400" spc="100" dirty="0"/>
              <a:t>시스템구성  </a:t>
            </a:r>
            <a:endParaRPr lang="en-US" altLang="ko-KR" sz="4400" spc="100" dirty="0"/>
          </a:p>
          <a:p>
            <a:pPr>
              <a:lnSpc>
                <a:spcPct val="150000"/>
              </a:lnSpc>
            </a:pPr>
            <a:r>
              <a:rPr lang="ko-KR" altLang="en-US" sz="4400" spc="100" dirty="0"/>
              <a:t>화면설계    </a:t>
            </a:r>
            <a:endParaRPr lang="en-US" altLang="ko-KR" sz="4400" spc="100" dirty="0"/>
          </a:p>
          <a:p>
            <a:pPr>
              <a:lnSpc>
                <a:spcPct val="150000"/>
              </a:lnSpc>
            </a:pPr>
            <a:r>
              <a:rPr lang="en-US" sz="4400" spc="100" dirty="0"/>
              <a:t>API </a:t>
            </a:r>
            <a:r>
              <a:rPr lang="ko-KR" altLang="en-US" sz="4400" spc="100" dirty="0"/>
              <a:t>명세</a:t>
            </a:r>
            <a:endParaRPr lang="en-US" altLang="ko-KR" sz="4400" spc="100" dirty="0"/>
          </a:p>
          <a:p>
            <a:pPr>
              <a:lnSpc>
                <a:spcPct val="150000"/>
              </a:lnSpc>
            </a:pPr>
            <a:r>
              <a:rPr lang="en-US" sz="4400" spc="100" dirty="0"/>
              <a:t>DB </a:t>
            </a:r>
            <a:r>
              <a:rPr lang="ko-KR" altLang="en-US" sz="4400" spc="100" dirty="0"/>
              <a:t>설계</a:t>
            </a:r>
            <a:endParaRPr sz="4400" spc="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/>
          <p:nvPr/>
        </p:nvSpPr>
        <p:spPr>
          <a:xfrm>
            <a:off x="448128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9;p13">
            <a:extLst>
              <a:ext uri="{FF2B5EF4-FFF2-40B4-BE49-F238E27FC236}">
                <a16:creationId xmlns:a16="http://schemas.microsoft.com/office/drawing/2014/main" id="{D7DDD037-5B21-3335-060B-C1F9A6FC4A7E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프로젝트 개요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6A48B-E523-531D-E9F0-934AAA168DCC}"/>
              </a:ext>
            </a:extLst>
          </p:cNvPr>
          <p:cNvSpPr txBox="1"/>
          <p:nvPr/>
        </p:nvSpPr>
        <p:spPr>
          <a:xfrm>
            <a:off x="448128" y="3307390"/>
            <a:ext cx="17291187" cy="650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3pPr marL="720000">
              <a:lnSpc>
                <a:spcPct val="120000"/>
              </a:lnSpc>
              <a:defRPr sz="2300" b="1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defRPr>
            </a:lvl3pPr>
          </a:lstStyle>
          <a:p>
            <a:pPr>
              <a:lnSpc>
                <a:spcPct val="111000"/>
              </a:lnSpc>
            </a:pPr>
            <a:endParaRPr lang="en-US" altLang="ko-KR" sz="3000" dirty="0">
              <a:solidFill>
                <a:srgbClr val="7B96D4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 Black"/>
            </a:endParaRPr>
          </a:p>
          <a:p>
            <a:pPr>
              <a:lnSpc>
                <a:spcPct val="111000"/>
              </a:lnSpc>
            </a:pPr>
            <a:r>
              <a:rPr lang="en-US" altLang="ko-KR" sz="3000" dirty="0">
                <a:solidFill>
                  <a:srgbClr val="7B96D4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</a:rPr>
              <a:t>    </a:t>
            </a:r>
            <a:r>
              <a:rPr lang="en-US" altLang="ko-KR" sz="3600" dirty="0">
                <a:solidFill>
                  <a:srgbClr val="7B96D4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</a:rPr>
              <a:t>1. </a:t>
            </a:r>
            <a:r>
              <a:rPr lang="ko-KR" altLang="en-US" sz="3600" dirty="0">
                <a:solidFill>
                  <a:srgbClr val="7B96D4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</a:rPr>
              <a:t>프로젝트 목적</a:t>
            </a:r>
          </a:p>
          <a:p>
            <a:pPr marL="262800" lvl="2"/>
            <a:r>
              <a:rPr lang="en-US" altLang="ko-KR" b="0" dirty="0"/>
              <a:t>   </a:t>
            </a:r>
            <a:r>
              <a:rPr lang="ko-KR" altLang="en-US" b="0" dirty="0"/>
              <a:t>도보 여행자를 위한 종합 정보 제공</a:t>
            </a:r>
            <a:r>
              <a:rPr lang="en-US" altLang="ko-KR" b="0" dirty="0"/>
              <a:t>:</a:t>
            </a:r>
          </a:p>
          <a:p>
            <a:pPr marL="262800" lvl="2"/>
            <a:r>
              <a:rPr lang="en-US" altLang="ko-KR" b="0" dirty="0"/>
              <a:t>	</a:t>
            </a:r>
            <a:r>
              <a:rPr lang="ko-KR" altLang="en-US" b="0" dirty="0"/>
              <a:t>부산 도보 여행자에게 주요 관광지 정보와 주변 대중교통 정보를 제공하는 웹 애플리케이션입니다</a:t>
            </a:r>
            <a:r>
              <a:rPr lang="en-US" altLang="ko-KR" b="0" dirty="0"/>
              <a:t>.</a:t>
            </a:r>
          </a:p>
          <a:p>
            <a:pPr marL="262800" lvl="2"/>
            <a:r>
              <a:rPr lang="ko-KR" altLang="en-US" b="0" dirty="0"/>
              <a:t>   사용자 친화적인 인터페이스</a:t>
            </a:r>
            <a:r>
              <a:rPr lang="en-US" altLang="ko-KR" b="0" dirty="0"/>
              <a:t>:</a:t>
            </a:r>
          </a:p>
          <a:p>
            <a:pPr marL="262800" lvl="2"/>
            <a:r>
              <a:rPr lang="en-US" altLang="ko-KR" b="0" dirty="0"/>
              <a:t>	</a:t>
            </a:r>
            <a:r>
              <a:rPr lang="ko-KR" altLang="en-US" b="0" dirty="0"/>
              <a:t>사용자가 쉽게 접근하고 이용할 수 있도록 설계된 </a:t>
            </a:r>
            <a:r>
              <a:rPr lang="en-US" altLang="ko-KR" b="0" dirty="0"/>
              <a:t>UI</a:t>
            </a:r>
            <a:r>
              <a:rPr lang="ko-KR" altLang="en-US" b="0" dirty="0"/>
              <a:t>와 </a:t>
            </a:r>
            <a:r>
              <a:rPr lang="en-US" altLang="ko-KR" b="0" dirty="0"/>
              <a:t>UX</a:t>
            </a:r>
            <a:r>
              <a:rPr lang="ko-KR" altLang="en-US" b="0" dirty="0"/>
              <a:t>를 제공합니다</a:t>
            </a:r>
            <a:r>
              <a:rPr lang="en-US" altLang="ko-KR" b="0" dirty="0"/>
              <a:t>.</a:t>
            </a:r>
          </a:p>
          <a:p>
            <a:pPr lvl="2">
              <a:lnSpc>
                <a:spcPct val="111000"/>
              </a:lnSpc>
            </a:pPr>
            <a:endParaRPr lang="en-US" altLang="ko-KR" sz="3000" b="0" dirty="0">
              <a:solidFill>
                <a:srgbClr val="7B96D4"/>
              </a:solidFill>
              <a:cs typeface="Heebo Black"/>
            </a:endParaRPr>
          </a:p>
          <a:p>
            <a:pPr lvl="2">
              <a:lnSpc>
                <a:spcPct val="111000"/>
              </a:lnSpc>
            </a:pPr>
            <a:r>
              <a:rPr lang="en-US" altLang="ko-KR" sz="3600" b="0" dirty="0">
                <a:solidFill>
                  <a:srgbClr val="7B96D4"/>
                </a:solidFill>
                <a:cs typeface="Heebo Black"/>
              </a:rPr>
              <a:t>2. </a:t>
            </a:r>
            <a:r>
              <a:rPr lang="ko-KR" altLang="en-US" sz="3600" b="0" dirty="0">
                <a:solidFill>
                  <a:srgbClr val="7B96D4"/>
                </a:solidFill>
                <a:cs typeface="Heebo Black"/>
              </a:rPr>
              <a:t>주요 기능</a:t>
            </a:r>
          </a:p>
          <a:p>
            <a:pPr marL="262800" lvl="2"/>
            <a:r>
              <a:rPr lang="ko-KR" altLang="en-US" b="0" dirty="0"/>
              <a:t>   관광지 정보 제공</a:t>
            </a:r>
            <a:r>
              <a:rPr lang="en-US" altLang="ko-KR" b="0" dirty="0"/>
              <a:t>:</a:t>
            </a:r>
          </a:p>
          <a:p>
            <a:pPr marL="262800" lvl="2"/>
            <a:r>
              <a:rPr lang="en-US" altLang="ko-KR" b="0" dirty="0"/>
              <a:t>	</a:t>
            </a:r>
            <a:r>
              <a:rPr lang="ko-KR" altLang="en-US" b="0" dirty="0"/>
              <a:t>부산의 주요 관광지에 대한 정보</a:t>
            </a:r>
            <a:r>
              <a:rPr lang="en-US" altLang="ko-KR" b="0" dirty="0"/>
              <a:t>(</a:t>
            </a:r>
            <a:r>
              <a:rPr lang="ko-KR" altLang="en-US" b="0" dirty="0"/>
              <a:t>위치</a:t>
            </a:r>
            <a:r>
              <a:rPr lang="en-US" altLang="ko-KR" b="0" dirty="0"/>
              <a:t>, </a:t>
            </a:r>
            <a:r>
              <a:rPr lang="ko-KR" altLang="en-US" b="0" dirty="0"/>
              <a:t>설명</a:t>
            </a:r>
            <a:r>
              <a:rPr lang="en-US" altLang="ko-KR" b="0" dirty="0"/>
              <a:t>, </a:t>
            </a:r>
            <a:r>
              <a:rPr lang="ko-KR" altLang="en-US" b="0" dirty="0"/>
              <a:t>사진 등</a:t>
            </a:r>
            <a:r>
              <a:rPr lang="en-US" altLang="ko-KR" b="0" dirty="0"/>
              <a:t>)</a:t>
            </a:r>
            <a:r>
              <a:rPr lang="ko-KR" altLang="en-US" b="0" dirty="0"/>
              <a:t>를 상세히 제공</a:t>
            </a:r>
          </a:p>
          <a:p>
            <a:pPr marL="262800" lvl="2"/>
            <a:r>
              <a:rPr lang="en-US" altLang="ko-KR" b="0" dirty="0"/>
              <a:t>	</a:t>
            </a:r>
            <a:r>
              <a:rPr lang="ko-KR" altLang="en-US" b="0" dirty="0"/>
              <a:t>관광지의 위치</a:t>
            </a:r>
            <a:r>
              <a:rPr lang="en-US" altLang="ko-KR" b="0" dirty="0"/>
              <a:t>, </a:t>
            </a:r>
            <a:r>
              <a:rPr lang="ko-KR" altLang="en-US" b="0" dirty="0"/>
              <a:t>역사적 배경</a:t>
            </a:r>
            <a:r>
              <a:rPr lang="en-US" altLang="ko-KR" b="0" dirty="0"/>
              <a:t> </a:t>
            </a:r>
            <a:r>
              <a:rPr lang="ko-KR" altLang="en-US" b="0" dirty="0"/>
              <a:t>등 다양한 정보를 포함</a:t>
            </a:r>
          </a:p>
          <a:p>
            <a:pPr marL="262800" lvl="2"/>
            <a:r>
              <a:rPr lang="ko-KR" altLang="en-US" b="0" dirty="0"/>
              <a:t>   대중교통 정보 제공</a:t>
            </a:r>
            <a:r>
              <a:rPr lang="en-US" altLang="ko-KR" b="0" dirty="0"/>
              <a:t>:</a:t>
            </a:r>
          </a:p>
          <a:p>
            <a:pPr marL="262800" lvl="2"/>
            <a:r>
              <a:rPr lang="en-US" altLang="ko-KR" b="0" dirty="0"/>
              <a:t>	</a:t>
            </a:r>
            <a:r>
              <a:rPr lang="ko-KR" altLang="en-US" b="0" dirty="0"/>
              <a:t>도보 여행자가 관광지로 이동할 때 필요한 인접 대중교통 정보를 제공</a:t>
            </a:r>
          </a:p>
          <a:p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56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C9EB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448128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9DB3A199-E7C3-7C51-C635-C782348FEABD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활용데이터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sp>
        <p:nvSpPr>
          <p:cNvPr id="23" name="Google Shape;660;p31">
            <a:extLst>
              <a:ext uri="{FF2B5EF4-FFF2-40B4-BE49-F238E27FC236}">
                <a16:creationId xmlns:a16="http://schemas.microsoft.com/office/drawing/2014/main" id="{7329AA64-ABB8-7F02-0E9E-65BC5254758D}"/>
              </a:ext>
            </a:extLst>
          </p:cNvPr>
          <p:cNvSpPr txBox="1"/>
          <p:nvPr/>
        </p:nvSpPr>
        <p:spPr>
          <a:xfrm>
            <a:off x="727363" y="5868278"/>
            <a:ext cx="16833273" cy="127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20000" lvl="2">
              <a:lnSpc>
                <a:spcPct val="120000"/>
              </a:lnSpc>
            </a:pPr>
            <a:r>
              <a:rPr lang="ko-KR" altLang="en-US" sz="2300" b="1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주요 관광지 정보 제공</a:t>
            </a:r>
            <a:r>
              <a:rPr lang="en-US" altLang="ko-KR" sz="2300" b="1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:</a:t>
            </a:r>
            <a:endParaRPr lang="en-US" altLang="ko-KR" sz="2300" dirty="0">
              <a:latin typeface="휴먼엑스포" panose="02030504000101010101" pitchFamily="18" charset="-127"/>
              <a:ea typeface="휴먼엑스포" panose="02030504000101010101" pitchFamily="18" charset="-127"/>
              <a:cs typeface="Heebo"/>
              <a:sym typeface="Heebo"/>
            </a:endParaRPr>
          </a:p>
          <a:p>
            <a:pPr marL="720000" lvl="2">
              <a:lnSpc>
                <a:spcPct val="120000"/>
              </a:lnSpc>
            </a:pP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부산의 주요 관광지에 대한 정보를 제공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(</a:t>
            </a: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위치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, </a:t>
            </a: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설명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, </a:t>
            </a: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사진 등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).</a:t>
            </a:r>
          </a:p>
          <a:p>
            <a:pPr marL="720000" lvl="2">
              <a:lnSpc>
                <a:spcPct val="120000"/>
              </a:lnSpc>
            </a:pP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관광지의 위치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, </a:t>
            </a: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역사적 배경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, </a:t>
            </a: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주변 시설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, </a:t>
            </a: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관광객 리뷰</a:t>
            </a:r>
            <a:r>
              <a:rPr lang="en-US" altLang="ko-KR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, </a:t>
            </a: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평가 등을 포함</a:t>
            </a:r>
            <a:endParaRPr lang="en-US" altLang="ko-KR" sz="2300" dirty="0">
              <a:latin typeface="휴먼엑스포" panose="02030504000101010101" pitchFamily="18" charset="-127"/>
              <a:ea typeface="휴먼엑스포" panose="02030504000101010101" pitchFamily="18" charset="-127"/>
              <a:cs typeface="Heebo"/>
              <a:sym typeface="Heebo"/>
            </a:endParaRPr>
          </a:p>
        </p:txBody>
      </p:sp>
      <p:sp>
        <p:nvSpPr>
          <p:cNvPr id="25" name="Google Shape;90;p13">
            <a:extLst>
              <a:ext uri="{FF2B5EF4-FFF2-40B4-BE49-F238E27FC236}">
                <a16:creationId xmlns:a16="http://schemas.microsoft.com/office/drawing/2014/main" id="{970C2754-F6F1-2701-BC2B-8C1D134CDA02}"/>
              </a:ext>
            </a:extLst>
          </p:cNvPr>
          <p:cNvSpPr txBox="1"/>
          <p:nvPr/>
        </p:nvSpPr>
        <p:spPr>
          <a:xfrm>
            <a:off x="432633" y="4689528"/>
            <a:ext cx="17306682" cy="907941"/>
          </a:xfrm>
          <a:prstGeom prst="rect">
            <a:avLst/>
          </a:prstGeom>
          <a:solidFill>
            <a:srgbClr val="4C6FBF"/>
          </a:solidFill>
          <a:ln>
            <a:solidFill>
              <a:srgbClr val="4C6FBF"/>
            </a:solidFill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18002"/>
              </a:lnSpc>
              <a:buNone/>
              <a:defRPr sz="5000">
                <a:solidFill>
                  <a:srgbClr val="B1C9EB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</a:defRPr>
            </a:lvl1pPr>
          </a:lstStyle>
          <a:p>
            <a:pPr marL="720000" algn="l"/>
            <a:r>
              <a:rPr lang="ko-KR" altLang="en-US" spc="100" dirty="0">
                <a:solidFill>
                  <a:schemeClr val="bg1"/>
                </a:solidFill>
              </a:rPr>
              <a:t>주요 컨텐츠</a:t>
            </a:r>
            <a:endParaRPr spc="100" dirty="0">
              <a:solidFill>
                <a:schemeClr val="bg1"/>
              </a:solidFill>
            </a:endParaRPr>
          </a:p>
        </p:txBody>
      </p:sp>
      <p:sp>
        <p:nvSpPr>
          <p:cNvPr id="28" name="Google Shape;660;p31">
            <a:extLst>
              <a:ext uri="{FF2B5EF4-FFF2-40B4-BE49-F238E27FC236}">
                <a16:creationId xmlns:a16="http://schemas.microsoft.com/office/drawing/2014/main" id="{9B81FBC8-1D5D-5F0C-D804-9B7529EC7FC0}"/>
              </a:ext>
            </a:extLst>
          </p:cNvPr>
          <p:cNvSpPr txBox="1"/>
          <p:nvPr/>
        </p:nvSpPr>
        <p:spPr>
          <a:xfrm>
            <a:off x="677084" y="7838014"/>
            <a:ext cx="16833273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20000" lvl="2">
              <a:lnSpc>
                <a:spcPct val="120000"/>
              </a:lnSpc>
            </a:pPr>
            <a:r>
              <a:rPr lang="ko-KR" altLang="en-US" sz="2300" b="1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대중교통 정보 제공</a:t>
            </a:r>
            <a:r>
              <a:rPr lang="en-US" altLang="ko-KR" sz="2300" b="1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:</a:t>
            </a:r>
            <a:endParaRPr lang="en-US" altLang="ko-KR" sz="2300" dirty="0">
              <a:latin typeface="휴먼엑스포" panose="02030504000101010101" pitchFamily="18" charset="-127"/>
              <a:ea typeface="휴먼엑스포" panose="02030504000101010101" pitchFamily="18" charset="-127"/>
              <a:cs typeface="Heebo"/>
              <a:sym typeface="Heebo"/>
            </a:endParaRPr>
          </a:p>
          <a:p>
            <a:pPr marL="720000" lvl="2">
              <a:lnSpc>
                <a:spcPct val="120000"/>
              </a:lnSpc>
            </a:pPr>
            <a:r>
              <a:rPr lang="ko-KR" altLang="en-US" sz="2300" dirty="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  <a:sym typeface="Heebo"/>
              </a:rPr>
              <a:t>관광지로 이동하는 도보 여행자를 위해 도보 여행지와 인접한 대중교통 정보 제공</a:t>
            </a:r>
            <a:endParaRPr lang="en-US" altLang="ko-KR" sz="2300" dirty="0">
              <a:latin typeface="휴먼엑스포" panose="02030504000101010101" pitchFamily="18" charset="-127"/>
              <a:ea typeface="휴먼엑스포" panose="02030504000101010101" pitchFamily="18" charset="-127"/>
              <a:cs typeface="Heebo"/>
              <a:sym typeface="Heebo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8C0A951-FE91-4D85-B74F-2E6CEE379386}"/>
              </a:ext>
            </a:extLst>
          </p:cNvPr>
          <p:cNvGrpSpPr/>
          <p:nvPr/>
        </p:nvGrpSpPr>
        <p:grpSpPr>
          <a:xfrm>
            <a:off x="877178" y="2873409"/>
            <a:ext cx="16417591" cy="1391693"/>
            <a:chOff x="2597772" y="3442735"/>
            <a:chExt cx="15910484" cy="136836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19662D9-3422-42CD-AE4F-363121DDF3AC}"/>
                </a:ext>
              </a:extLst>
            </p:cNvPr>
            <p:cNvGrpSpPr/>
            <p:nvPr/>
          </p:nvGrpSpPr>
          <p:grpSpPr>
            <a:xfrm>
              <a:off x="2597772" y="3442735"/>
              <a:ext cx="1280026" cy="1317605"/>
              <a:chOff x="1544755" y="4333660"/>
              <a:chExt cx="944583" cy="988860"/>
            </a:xfrm>
          </p:grpSpPr>
          <p:grpSp>
            <p:nvGrpSpPr>
              <p:cNvPr id="12" name="Google Shape;261;p21">
                <a:extLst>
                  <a:ext uri="{FF2B5EF4-FFF2-40B4-BE49-F238E27FC236}">
                    <a16:creationId xmlns:a16="http://schemas.microsoft.com/office/drawing/2014/main" id="{53B0847C-0C87-4C64-929E-9258DDFF587D}"/>
                  </a:ext>
                </a:extLst>
              </p:cNvPr>
              <p:cNvGrpSpPr/>
              <p:nvPr/>
            </p:nvGrpSpPr>
            <p:grpSpPr>
              <a:xfrm>
                <a:off x="1544755" y="4333660"/>
                <a:ext cx="944583" cy="988860"/>
                <a:chOff x="0" y="-38100"/>
                <a:chExt cx="812800" cy="850900"/>
              </a:xfrm>
            </p:grpSpPr>
            <p:sp>
              <p:nvSpPr>
                <p:cNvPr id="14" name="Google Shape;262;p21">
                  <a:extLst>
                    <a:ext uri="{FF2B5EF4-FFF2-40B4-BE49-F238E27FC236}">
                      <a16:creationId xmlns:a16="http://schemas.microsoft.com/office/drawing/2014/main" id="{2C4BAB31-ECE0-46D2-9A59-C77C689A2BD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131138" y="0"/>
                      </a:moveTo>
                      <a:lnTo>
                        <a:pt x="681662" y="0"/>
                      </a:lnTo>
                      <a:cubicBezTo>
                        <a:pt x="716442" y="0"/>
                        <a:pt x="749797" y="13816"/>
                        <a:pt x="774391" y="38409"/>
                      </a:cubicBezTo>
                      <a:cubicBezTo>
                        <a:pt x="798984" y="63003"/>
                        <a:pt x="812800" y="96358"/>
                        <a:pt x="812800" y="131138"/>
                      </a:cubicBezTo>
                      <a:lnTo>
                        <a:pt x="812800" y="681662"/>
                      </a:lnTo>
                      <a:cubicBezTo>
                        <a:pt x="812800" y="716442"/>
                        <a:pt x="798984" y="749797"/>
                        <a:pt x="774391" y="774391"/>
                      </a:cubicBezTo>
                      <a:cubicBezTo>
                        <a:pt x="749797" y="798984"/>
                        <a:pt x="716442" y="812800"/>
                        <a:pt x="681662" y="812800"/>
                      </a:cubicBezTo>
                      <a:lnTo>
                        <a:pt x="131138" y="812800"/>
                      </a:lnTo>
                      <a:cubicBezTo>
                        <a:pt x="96358" y="812800"/>
                        <a:pt x="63003" y="798984"/>
                        <a:pt x="38409" y="774391"/>
                      </a:cubicBezTo>
                      <a:cubicBezTo>
                        <a:pt x="13816" y="749797"/>
                        <a:pt x="0" y="716442"/>
                        <a:pt x="0" y="681662"/>
                      </a:cubicBezTo>
                      <a:lnTo>
                        <a:pt x="0" y="131138"/>
                      </a:lnTo>
                      <a:cubicBezTo>
                        <a:pt x="0" y="96358"/>
                        <a:pt x="13816" y="63003"/>
                        <a:pt x="38409" y="38409"/>
                      </a:cubicBezTo>
                      <a:cubicBezTo>
                        <a:pt x="63003" y="13816"/>
                        <a:pt x="96358" y="0"/>
                        <a:pt x="131138" y="0"/>
                      </a:cubicBezTo>
                      <a:close/>
                    </a:path>
                  </a:pathLst>
                </a:custGeom>
                <a:solidFill>
                  <a:srgbClr val="B1C9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263;p21">
                  <a:extLst>
                    <a:ext uri="{FF2B5EF4-FFF2-40B4-BE49-F238E27FC236}">
                      <a16:creationId xmlns:a16="http://schemas.microsoft.com/office/drawing/2014/main" id="{0CF95D3C-98E7-478D-909B-05142ACF93C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70090" cy="7015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" name="Google Shape;270;p21">
                <a:extLst>
                  <a:ext uri="{FF2B5EF4-FFF2-40B4-BE49-F238E27FC236}">
                    <a16:creationId xmlns:a16="http://schemas.microsoft.com/office/drawing/2014/main" id="{652A9214-A171-4912-B5DA-07A905741E54}"/>
                  </a:ext>
                </a:extLst>
              </p:cNvPr>
              <p:cNvSpPr/>
              <p:nvPr/>
            </p:nvSpPr>
            <p:spPr>
              <a:xfrm>
                <a:off x="1710602" y="4599191"/>
                <a:ext cx="612888" cy="462452"/>
              </a:xfrm>
              <a:custGeom>
                <a:avLst/>
                <a:gdLst/>
                <a:ahLst/>
                <a:cxnLst/>
                <a:rect l="l" t="t" r="r" b="b"/>
                <a:pathLst>
                  <a:path w="612888" h="462452" extrusionOk="0">
                    <a:moveTo>
                      <a:pt x="0" y="0"/>
                    </a:moveTo>
                    <a:lnTo>
                      <a:pt x="612888" y="0"/>
                    </a:lnTo>
                    <a:lnTo>
                      <a:pt x="612888" y="462451"/>
                    </a:lnTo>
                    <a:lnTo>
                      <a:pt x="0" y="462451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</p:sp>
        </p:grpSp>
        <p:sp>
          <p:nvSpPr>
            <p:cNvPr id="10" name="Google Shape;273;p21">
              <a:extLst>
                <a:ext uri="{FF2B5EF4-FFF2-40B4-BE49-F238E27FC236}">
                  <a16:creationId xmlns:a16="http://schemas.microsoft.com/office/drawing/2014/main" id="{6707D4E7-DEE3-4E1E-A469-C037C6F52BC9}"/>
                </a:ext>
              </a:extLst>
            </p:cNvPr>
            <p:cNvSpPr txBox="1"/>
            <p:nvPr/>
          </p:nvSpPr>
          <p:spPr>
            <a:xfrm>
              <a:off x="4105022" y="3468645"/>
              <a:ext cx="12817334" cy="512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000" b="0" i="0" u="none" strike="noStrike" cap="none" dirty="0">
                  <a:solidFill>
                    <a:srgbClr val="7B96D4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  <a:cs typeface="Heebo Black"/>
                  <a:sym typeface="Heebo Black"/>
                </a:rPr>
                <a:t>도보여행자를 위한 대중교통 인접 지역문화 관광지</a:t>
              </a:r>
              <a:endParaRPr lang="en-US" dirty="0">
                <a:latin typeface="휴먼엑스포" panose="02030504000101010101" pitchFamily="18" charset="-127"/>
                <a:ea typeface="휴먼엑스포" panose="02030504000101010101" pitchFamily="18" charset="-127"/>
              </a:endParaRPr>
            </a:p>
          </p:txBody>
        </p:sp>
        <p:sp>
          <p:nvSpPr>
            <p:cNvPr id="11" name="Google Shape;276;p21">
              <a:extLst>
                <a:ext uri="{FF2B5EF4-FFF2-40B4-BE49-F238E27FC236}">
                  <a16:creationId xmlns:a16="http://schemas.microsoft.com/office/drawing/2014/main" id="{3D94BA40-4B5B-4B3D-85AB-63CD9384011B}"/>
                </a:ext>
              </a:extLst>
            </p:cNvPr>
            <p:cNvSpPr txBox="1"/>
            <p:nvPr/>
          </p:nvSpPr>
          <p:spPr>
            <a:xfrm>
              <a:off x="4105022" y="4337122"/>
              <a:ext cx="14403234" cy="4739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200" dirty="0">
                  <a:latin typeface="Heebo"/>
                  <a:ea typeface="Heebo"/>
                  <a:cs typeface="Heebo"/>
                  <a:sym typeface="Heebo"/>
                  <a:hlinkClick r:id="rId4"/>
                </a:rPr>
                <a:t>출처</a:t>
              </a:r>
              <a:r>
                <a:rPr lang="en-US" altLang="ko-KR" sz="2200" dirty="0">
                  <a:latin typeface="Heebo"/>
                  <a:ea typeface="Heebo"/>
                  <a:cs typeface="Heebo"/>
                  <a:sym typeface="Heebo"/>
                  <a:hlinkClick r:id="rId4"/>
                </a:rPr>
                <a:t>: </a:t>
              </a:r>
              <a:r>
                <a:rPr lang="ko-KR" altLang="en-US" sz="2200" dirty="0">
                  <a:latin typeface="Heebo"/>
                  <a:ea typeface="Heebo"/>
                  <a:cs typeface="Heebo"/>
                  <a:sym typeface="Heebo"/>
                  <a:hlinkClick r:id="rId4"/>
                </a:rPr>
                <a:t>한국 문화원 연합회</a:t>
              </a:r>
              <a:r>
                <a:rPr lang="en-US" altLang="ko-KR" sz="2200" dirty="0">
                  <a:latin typeface="Heebo"/>
                  <a:ea typeface="Heebo"/>
                  <a:cs typeface="Heebo"/>
                  <a:sym typeface="Heebo"/>
                  <a:hlinkClick r:id="rId4"/>
                </a:rPr>
                <a:t>(</a:t>
              </a:r>
              <a:r>
                <a:rPr lang="ko-KR" altLang="en-US" sz="2200" dirty="0" err="1">
                  <a:latin typeface="Heebo"/>
                  <a:ea typeface="Heebo"/>
                  <a:cs typeface="Heebo"/>
                  <a:sym typeface="Heebo"/>
                  <a:hlinkClick r:id="rId4"/>
                </a:rPr>
                <a:t>문화빅데이터</a:t>
              </a:r>
              <a:r>
                <a:rPr lang="en-US" altLang="ko-KR" sz="2200" dirty="0">
                  <a:latin typeface="Heebo"/>
                  <a:ea typeface="Heebo"/>
                  <a:cs typeface="Heebo"/>
                  <a:sym typeface="Heebo"/>
                  <a:hlinkClick r:id="rId4"/>
                </a:rPr>
                <a:t>)</a:t>
              </a:r>
              <a:r>
                <a:rPr lang="en-US" sz="2200" dirty="0">
                  <a:latin typeface="Heebo"/>
                  <a:ea typeface="Heebo"/>
                  <a:cs typeface="Heebo"/>
                  <a:sym typeface="Heebo"/>
                  <a:hlinkClick r:id="rId4"/>
                </a:rPr>
                <a:t> </a:t>
              </a:r>
              <a:endParaRPr lang="en-US" sz="2200" b="0" i="0" u="none" strike="noStrike" cap="none" dirty="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FA767519-F3D0-4F2A-9DE9-81FCA9E13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44409"/>
              </p:ext>
            </p:extLst>
          </p:nvPr>
        </p:nvGraphicFramePr>
        <p:xfrm>
          <a:off x="742123" y="795129"/>
          <a:ext cx="16790506" cy="8759684"/>
        </p:xfrm>
        <a:graphic>
          <a:graphicData uri="http://schemas.openxmlformats.org/drawingml/2006/table">
            <a:tbl>
              <a:tblPr firstRow="1" bandRow="1">
                <a:tableStyleId>{A8DD9129-B136-4D1E-8867-87446E5F62A1}</a:tableStyleId>
              </a:tblPr>
              <a:tblGrid>
                <a:gridCol w="2014932">
                  <a:extLst>
                    <a:ext uri="{9D8B030D-6E8A-4147-A177-3AD203B41FA5}">
                      <a16:colId xmlns:a16="http://schemas.microsoft.com/office/drawing/2014/main" val="2619652271"/>
                    </a:ext>
                  </a:extLst>
                </a:gridCol>
                <a:gridCol w="2923309">
                  <a:extLst>
                    <a:ext uri="{9D8B030D-6E8A-4147-A177-3AD203B41FA5}">
                      <a16:colId xmlns:a16="http://schemas.microsoft.com/office/drawing/2014/main" val="1266637004"/>
                    </a:ext>
                  </a:extLst>
                </a:gridCol>
                <a:gridCol w="8659091">
                  <a:extLst>
                    <a:ext uri="{9D8B030D-6E8A-4147-A177-3AD203B41FA5}">
                      <a16:colId xmlns:a16="http://schemas.microsoft.com/office/drawing/2014/main" val="2848244651"/>
                    </a:ext>
                  </a:extLst>
                </a:gridCol>
                <a:gridCol w="1596587">
                  <a:extLst>
                    <a:ext uri="{9D8B030D-6E8A-4147-A177-3AD203B41FA5}">
                      <a16:colId xmlns:a16="http://schemas.microsoft.com/office/drawing/2014/main" val="4252652359"/>
                    </a:ext>
                  </a:extLst>
                </a:gridCol>
                <a:gridCol w="1596587">
                  <a:extLst>
                    <a:ext uri="{9D8B030D-6E8A-4147-A177-3AD203B41FA5}">
                      <a16:colId xmlns:a16="http://schemas.microsoft.com/office/drawing/2014/main" val="3911338241"/>
                    </a:ext>
                  </a:extLst>
                </a:gridCol>
              </a:tblGrid>
              <a:tr h="959519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5000" dirty="0">
                          <a:solidFill>
                            <a:srgbClr val="4F81BD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기능 요구사항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91313"/>
                  </a:ext>
                </a:extLst>
              </a:tr>
              <a:tr h="634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chemeClr val="bg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4C6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chemeClr val="bg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서비스</a:t>
                      </a:r>
                      <a:endParaRPr lang="ko-KR" altLang="en-US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4C6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chemeClr val="bg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기능설명</a:t>
                      </a:r>
                      <a:endParaRPr lang="ko-KR" altLang="en-US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4C6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chemeClr val="bg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계획기능</a:t>
                      </a:r>
                      <a:endParaRPr lang="ko-KR" altLang="en-US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4C6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chemeClr val="bg1"/>
                          </a:solidFill>
                        </a:rPr>
                        <a:t>구현여부</a:t>
                      </a:r>
                    </a:p>
                  </a:txBody>
                  <a:tcPr anchor="ctr">
                    <a:solidFill>
                      <a:srgbClr val="4C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512537"/>
                  </a:ext>
                </a:extLst>
              </a:tr>
              <a:tr h="1023636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rgbClr val="4C6FBF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서비스 소개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사용자 등록 및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회원가입 기능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계정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이메일 형식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이름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비밀번호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790262"/>
                  </a:ext>
                </a:extLst>
              </a:tr>
              <a:tr h="10236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로그인 기능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계정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이메일 형식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)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과 비밀번호를 통해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159174"/>
                  </a:ext>
                </a:extLst>
              </a:tr>
              <a:tr h="10236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소셜 로그인 기능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구글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네이버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카카오 계정을 통한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568039"/>
                  </a:ext>
                </a:extLst>
              </a:tr>
              <a:tr h="10236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비밀번호 찾기 및 재설정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이메일 링크 발송을 통한 비밀번호 재설정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327635"/>
                  </a:ext>
                </a:extLst>
              </a:tr>
              <a:tr h="10236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메인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관광지 목록</a:t>
                      </a:r>
                      <a:r>
                        <a:rPr lang="en-US" altLang="ko-KR" sz="2000" dirty="0"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: </a:t>
                      </a:r>
                      <a:r>
                        <a:rPr lang="ko-KR" altLang="en-US" sz="2000" dirty="0"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부산의 대표적인 관광지 목록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23663"/>
                  </a:ext>
                </a:extLst>
              </a:tr>
              <a:tr h="10236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이벤트</a:t>
                      </a:r>
                      <a:r>
                        <a:rPr lang="en-US" altLang="ko-KR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: </a:t>
                      </a: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부산광역시 내 축제</a:t>
                      </a:r>
                      <a:r>
                        <a:rPr lang="en-US" altLang="ko-KR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행사 등의 정보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미구현</a:t>
                      </a:r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452525"/>
                  </a:ext>
                </a:extLst>
              </a:tr>
              <a:tr h="10236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공지사항</a:t>
                      </a:r>
                      <a:r>
                        <a:rPr lang="en-US" altLang="ko-KR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: </a:t>
                      </a: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데이터의 변경사항 및 웹서비스 변경사항 안내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미구현</a:t>
                      </a:r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58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034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FA767519-F3D0-4F2A-9DE9-81FCA9E13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493266"/>
              </p:ext>
            </p:extLst>
          </p:nvPr>
        </p:nvGraphicFramePr>
        <p:xfrm>
          <a:off x="742122" y="762000"/>
          <a:ext cx="16802928" cy="8858248"/>
        </p:xfrm>
        <a:graphic>
          <a:graphicData uri="http://schemas.openxmlformats.org/drawingml/2006/table">
            <a:tbl>
              <a:tblPr firstRow="1" bandRow="1">
                <a:tableStyleId>{A8DD9129-B136-4D1E-8867-87446E5F62A1}</a:tableStyleId>
              </a:tblPr>
              <a:tblGrid>
                <a:gridCol w="2098060">
                  <a:extLst>
                    <a:ext uri="{9D8B030D-6E8A-4147-A177-3AD203B41FA5}">
                      <a16:colId xmlns:a16="http://schemas.microsoft.com/office/drawing/2014/main" val="2619652271"/>
                    </a:ext>
                  </a:extLst>
                </a:gridCol>
                <a:gridCol w="2673927">
                  <a:extLst>
                    <a:ext uri="{9D8B030D-6E8A-4147-A177-3AD203B41FA5}">
                      <a16:colId xmlns:a16="http://schemas.microsoft.com/office/drawing/2014/main" val="2959981295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848244651"/>
                    </a:ext>
                  </a:extLst>
                </a:gridCol>
                <a:gridCol w="1579418">
                  <a:extLst>
                    <a:ext uri="{9D8B030D-6E8A-4147-A177-3AD203B41FA5}">
                      <a16:colId xmlns:a16="http://schemas.microsoft.com/office/drawing/2014/main" val="4252652359"/>
                    </a:ext>
                  </a:extLst>
                </a:gridCol>
                <a:gridCol w="1307523">
                  <a:extLst>
                    <a:ext uri="{9D8B030D-6E8A-4147-A177-3AD203B41FA5}">
                      <a16:colId xmlns:a16="http://schemas.microsoft.com/office/drawing/2014/main" val="3585516325"/>
                    </a:ext>
                  </a:extLst>
                </a:gridCol>
              </a:tblGrid>
              <a:tr h="1107281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rgbClr val="4C6FBF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서비스 소개</a:t>
                      </a:r>
                    </a:p>
                  </a:txBody>
                  <a:tcPr anchor="ctr"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관광지 및 교통정보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관광지 상세정보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관광지의 역사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등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소개 제공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691313"/>
                  </a:ext>
                </a:extLst>
              </a:tr>
              <a:tr h="1107281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chemeClr val="bg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4C6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사진정보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관광지 모습이 담긴 사진 제공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12537"/>
                  </a:ext>
                </a:extLst>
              </a:tr>
              <a:tr h="11072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도로경로 안내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맵 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API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를 사용하여 출발지와 목적지 간의 도보 경로를 안내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미구현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339868"/>
                  </a:ext>
                </a:extLst>
              </a:tr>
              <a:tr h="11072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대중교통 정보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버스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지하철 등의 대중교통 정보 제공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007398"/>
                  </a:ext>
                </a:extLst>
              </a:tr>
              <a:tr h="1107281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rgbClr val="4C6FBF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서비스 소개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지도 및 네비게이션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지도 표시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지도 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API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를 사용하여 관광지의 위치를 지도에 표시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790262"/>
                  </a:ext>
                </a:extLst>
              </a:tr>
              <a:tr h="11072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현재 위치 표시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사용자의 현재 위치를 지도에 표시하여 관광지 간의 거리 정보 제공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미구현</a:t>
                      </a:r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159174"/>
                  </a:ext>
                </a:extLst>
              </a:tr>
              <a:tr h="11072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즐겨찾기 기능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즐겨찾기 추가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삭제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사용자가 마음에 드는 관광지를 </a:t>
                      </a:r>
                      <a:r>
                        <a:rPr lang="ko-KR" altLang="en-US" sz="1800" b="0" i="0" u="none" strike="noStrike" cap="none" dirty="0" err="1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즐겨찾기에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 추가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및 삭제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미구현</a:t>
                      </a:r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568039"/>
                  </a:ext>
                </a:extLst>
              </a:tr>
              <a:tr h="11072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즐겨찾기 목록 보기</a:t>
                      </a:r>
                      <a:r>
                        <a:rPr lang="en-US" altLang="ko-KR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사용자가 </a:t>
                      </a:r>
                      <a:r>
                        <a:rPr lang="ko-KR" altLang="en-US" sz="1800" b="0" i="0" u="none" strike="noStrike" cap="none" dirty="0" err="1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즐겨찾기에</a:t>
                      </a:r>
                      <a:r>
                        <a:rPr lang="ko-KR" altLang="en-US" sz="1800" b="0" i="0" u="none" strike="noStrike" cap="none" dirty="0">
                          <a:solidFill>
                            <a:srgbClr val="000000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 추가한 관광지 목록 표시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미구현</a:t>
                      </a:r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327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68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FA767519-F3D0-4F2A-9DE9-81FCA9E13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544560"/>
              </p:ext>
            </p:extLst>
          </p:nvPr>
        </p:nvGraphicFramePr>
        <p:xfrm>
          <a:off x="742123" y="795128"/>
          <a:ext cx="16790506" cy="8748920"/>
        </p:xfrm>
        <a:graphic>
          <a:graphicData uri="http://schemas.openxmlformats.org/drawingml/2006/table">
            <a:tbl>
              <a:tblPr firstRow="1" bandRow="1">
                <a:tableStyleId>{A8DD9129-B136-4D1E-8867-87446E5F62A1}</a:tableStyleId>
              </a:tblPr>
              <a:tblGrid>
                <a:gridCol w="2139622">
                  <a:extLst>
                    <a:ext uri="{9D8B030D-6E8A-4147-A177-3AD203B41FA5}">
                      <a16:colId xmlns:a16="http://schemas.microsoft.com/office/drawing/2014/main" val="261965227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66637004"/>
                    </a:ext>
                  </a:extLst>
                </a:gridCol>
                <a:gridCol w="9268691">
                  <a:extLst>
                    <a:ext uri="{9D8B030D-6E8A-4147-A177-3AD203B41FA5}">
                      <a16:colId xmlns:a16="http://schemas.microsoft.com/office/drawing/2014/main" val="2848244651"/>
                    </a:ext>
                  </a:extLst>
                </a:gridCol>
                <a:gridCol w="1413164">
                  <a:extLst>
                    <a:ext uri="{9D8B030D-6E8A-4147-A177-3AD203B41FA5}">
                      <a16:colId xmlns:a16="http://schemas.microsoft.com/office/drawing/2014/main" val="4252652359"/>
                    </a:ext>
                  </a:extLst>
                </a:gridCol>
                <a:gridCol w="1225829">
                  <a:extLst>
                    <a:ext uri="{9D8B030D-6E8A-4147-A177-3AD203B41FA5}">
                      <a16:colId xmlns:a16="http://schemas.microsoft.com/office/drawing/2014/main" val="2054644749"/>
                    </a:ext>
                  </a:extLst>
                </a:gridCol>
              </a:tblGrid>
              <a:tr h="1749784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4C6FBF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서비스 소개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간단한 검색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검색창</a:t>
                      </a:r>
                      <a:r>
                        <a:rPr lang="en-US" altLang="ko-KR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관광지 이름으로 검색할 수 있는 기능을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691313"/>
                  </a:ext>
                </a:extLst>
              </a:tr>
              <a:tr h="1749784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chemeClr val="bg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4C6FB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tx1"/>
                        </a:solidFill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검색 결과 표시</a:t>
                      </a:r>
                      <a:r>
                        <a:rPr lang="en-US" altLang="ko-KR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검색 결과를 목록 제공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512537"/>
                  </a:ext>
                </a:extLst>
              </a:tr>
              <a:tr h="1749784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solidFill>
                            <a:srgbClr val="4C6FBF"/>
                          </a:solidFill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서비스 소개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리뷰</a:t>
                      </a:r>
                      <a:r>
                        <a:rPr lang="en-US" altLang="ko-KR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(</a:t>
                      </a: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게시판</a:t>
                      </a:r>
                      <a:r>
                        <a:rPr lang="en-US" altLang="ko-KR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)</a:t>
                      </a:r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 및 평점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리뷰 작성</a:t>
                      </a:r>
                      <a:r>
                        <a:rPr lang="en-US" altLang="ko-KR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사용자가 공유게시판에 리뷰 작성 기능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790262"/>
                  </a:ext>
                </a:extLst>
              </a:tr>
              <a:tr h="17497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리뷰 보기</a:t>
                      </a:r>
                      <a:r>
                        <a:rPr lang="en-US" altLang="ko-KR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관광지 상세 페이지에서 다른 사용자가 작성한 리뷰 보기 기능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159174"/>
                  </a:ext>
                </a:extLst>
              </a:tr>
              <a:tr h="17497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500" dirty="0">
                        <a:solidFill>
                          <a:srgbClr val="4C6FBF"/>
                        </a:solidFill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휴먼엑스포" panose="02030504000101010101" pitchFamily="18" charset="-127"/>
                        <a:ea typeface="휴먼엑스포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리뷰 좋아요</a:t>
                      </a:r>
                      <a:r>
                        <a:rPr lang="en-US" altLang="ko-KR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20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휴먼엑스포" panose="02030504000101010101" pitchFamily="18" charset="-127"/>
                          <a:ea typeface="휴먼엑스포" panose="02030504000101010101" pitchFamily="18" charset="-127"/>
                          <a:cs typeface="Arial"/>
                          <a:sym typeface="Arial"/>
                        </a:rPr>
                        <a:t>사용자가 리뷰게시물에 대한 좋아요 기능을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휴먼엑스포" panose="02030504000101010101" pitchFamily="18" charset="-127"/>
                          <a:ea typeface="휴먼엑스포" panose="02030504000101010101" pitchFamily="18" charset="-127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177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64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시스템 구성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13326FB-CA8A-4AA4-8A01-4749BC930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96" y="3115338"/>
            <a:ext cx="14890606" cy="604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4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4810" y="4344498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화면 설계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</p:spTree>
    <p:extLst>
      <p:ext uri="{BB962C8B-B14F-4D97-AF65-F5344CB8AC3E}">
        <p14:creationId xmlns:p14="http://schemas.microsoft.com/office/powerpoint/2010/main" val="151887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5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홈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02402"/>
              </p:ext>
            </p:extLst>
          </p:nvPr>
        </p:nvGraphicFramePr>
        <p:xfrm>
          <a:off x="13444339" y="608729"/>
          <a:ext cx="4652748" cy="9566442"/>
        </p:xfrm>
        <a:graphic>
          <a:graphicData uri="http://schemas.openxmlformats.org/drawingml/2006/table">
            <a:tbl>
              <a:tblPr firstRow="1" bandRow="1"/>
              <a:tblGrid>
                <a:gridCol w="528169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272561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852018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511846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Main(Home)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42839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20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907147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 err="1"/>
                        <a:t>네비게이션바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Home, </a:t>
                      </a:r>
                      <a:r>
                        <a:rPr lang="ko-KR" altLang="en-US" sz="1200" dirty="0"/>
                        <a:t>관광지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지도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공유 게시판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로그인 페이지 등으로 쉽게 이동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로그인한 사용자는 마이페이지로 접근할 수 있는 메뉴도 확인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240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이미지 슬라이더를 통해 주요 관광지 이미지를 제공</a:t>
                      </a:r>
                      <a:endParaRPr lang="en-US" altLang="ko-KR" sz="1200" b="1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슬라이더는 자동으로 이미지를 순환하며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사용자가 좌우 화살표를 통해 이미지를 수동으로 넘기기 가능</a:t>
                      </a:r>
                      <a:r>
                        <a:rPr lang="en-US" altLang="ko-KR" sz="1200" dirty="0"/>
                        <a:t>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각 이미지에는 관련된 관광지의 상세 정보로 이동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1073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검색 기능을 제공</a:t>
                      </a:r>
                      <a:endParaRPr lang="en-US" altLang="ko-KR" sz="1200" b="1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사용자는 메인 화면의 검색 바를 통해 특정 관광지나 정보를 검색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입력된 검색어는 상태로 관리되며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검색 버튼 클릭 시 관광지정보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페이지로 이동하여 검색 결과를 표시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399325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00" b="1" dirty="0"/>
                        <a:t>관광지 데이터를 </a:t>
                      </a:r>
                      <a:r>
                        <a:rPr lang="en-US" altLang="ko-KR" sz="1200" b="1" dirty="0"/>
                        <a:t>Rest API</a:t>
                      </a:r>
                      <a:r>
                        <a:rPr lang="ko-KR" altLang="en-US" sz="1200" b="1" dirty="0"/>
                        <a:t>를 통해 제공</a:t>
                      </a:r>
                      <a:endParaRPr lang="en-US" altLang="ko-KR" sz="1200" b="1" dirty="0"/>
                    </a:p>
                    <a:p>
                      <a:pPr marL="171450" indent="-1714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서버는 관광지와 관련된 데이터를 </a:t>
                      </a:r>
                      <a:r>
                        <a:rPr lang="en-US" altLang="ko-KR" sz="1200" dirty="0"/>
                        <a:t>Rest API</a:t>
                      </a:r>
                      <a:r>
                        <a:rPr lang="ko-KR" altLang="en-US" sz="1200" dirty="0"/>
                        <a:t>로 제공</a:t>
                      </a:r>
                      <a:endParaRPr lang="en-US" altLang="ko-KR" sz="1200" dirty="0"/>
                    </a:p>
                    <a:p>
                      <a:pPr marL="171450" indent="-1714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이 데이터는 </a:t>
                      </a:r>
                      <a:r>
                        <a:rPr lang="en-US" altLang="ko-KR" sz="1200" dirty="0"/>
                        <a:t>MySQL </a:t>
                      </a:r>
                      <a:r>
                        <a:rPr lang="ko-KR" altLang="en-US" sz="1200" dirty="0"/>
                        <a:t>데이터베이스에 저장된 정보를 바탕</a:t>
                      </a:r>
                      <a:endParaRPr lang="en-US" altLang="ko-KR" sz="1200" dirty="0"/>
                    </a:p>
                    <a:p>
                      <a:pPr marL="171450" indent="-1714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클라이언트는 이 데이터를 이용해 이미지 슬라이더와 검색 결과를 구성</a:t>
                      </a:r>
                      <a:endParaRPr lang="ko-Kore-KR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2074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검색 요청에 따라 </a:t>
                      </a:r>
                      <a:r>
                        <a:rPr lang="ko-KR" altLang="en-US" sz="1200" b="1" dirty="0" err="1"/>
                        <a:t>필터링된</a:t>
                      </a:r>
                      <a:r>
                        <a:rPr lang="ko-KR" altLang="en-US" sz="1200" b="1" dirty="0"/>
                        <a:t> 관광지 데이터를 제공</a:t>
                      </a:r>
                      <a:endParaRPr lang="en-US" altLang="ko-KR" sz="1200" b="1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사용자가 입력한 검색어에 따라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서버는 해당 검색어에 맞는 관광지 목록을 필터링하여 반환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이 데이터는 클라이언트의 관광지정보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페이지에서 사용자에게 표시</a:t>
                      </a:r>
                      <a:endParaRPr lang="ko-Kore-KR" altLang="ko-KR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0156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00" b="1" dirty="0"/>
                        <a:t>이미지 데이터를 </a:t>
                      </a:r>
                      <a:r>
                        <a:rPr lang="en-US" altLang="ko-KR" sz="1200" b="1" dirty="0"/>
                        <a:t>Base64</a:t>
                      </a:r>
                      <a:r>
                        <a:rPr lang="ko-KR" altLang="en-US" sz="1200" b="1" dirty="0"/>
                        <a:t>로 인코딩하여 제공</a:t>
                      </a:r>
                      <a:endParaRPr lang="en-US" altLang="ko-KR" sz="1200" b="1" dirty="0"/>
                    </a:p>
                    <a:p>
                      <a:pPr marL="171450" indent="-1714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서버는 이미지 데이터를 </a:t>
                      </a:r>
                      <a:r>
                        <a:rPr lang="en-US" altLang="ko-KR" sz="1200" dirty="0"/>
                        <a:t>Base64</a:t>
                      </a:r>
                      <a:r>
                        <a:rPr lang="ko-KR" altLang="en-US" sz="1200" dirty="0"/>
                        <a:t>로 인코딩하여 클라이언트에 제공</a:t>
                      </a:r>
                      <a:endParaRPr lang="en-US" altLang="ko-KR" sz="1200" dirty="0"/>
                    </a:p>
                    <a:p>
                      <a:pPr marL="171450" indent="-1714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이를 통해 클라이언트는 이미지 슬라이더에서 이미지를 쉽게 렌더링</a:t>
                      </a:r>
                      <a:endParaRPr lang="ko-Kore-KR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481949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6059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검색어 입력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슬라이더 이미지 클릭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481949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00" dirty="0"/>
                        <a:t>검색 결과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관광지 상세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슬라이더 이미지</a:t>
                      </a:r>
                      <a:endParaRPr lang="ko-Kore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105776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홈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500" dirty="0">
                <a:latin typeface="+mj-ea"/>
                <a:ea typeface="+mj-ea"/>
              </a:rPr>
              <a:t>Home-0</a:t>
            </a:r>
            <a:endParaRPr kumimoji="1" lang="ko-KR" altLang="en-US" sz="1500" dirty="0">
              <a:latin typeface="+mj-ea"/>
              <a:ea typeface="+mj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7798B-4516-F81F-D4BB-6EDC0C882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5" y="608729"/>
            <a:ext cx="13206045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19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관광지 정보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040748"/>
              </p:ext>
            </p:extLst>
          </p:nvPr>
        </p:nvGraphicFramePr>
        <p:xfrm>
          <a:off x="13444339" y="608729"/>
          <a:ext cx="4652748" cy="9568231"/>
        </p:xfrm>
        <a:graphic>
          <a:graphicData uri="http://schemas.openxmlformats.org/drawingml/2006/table">
            <a:tbl>
              <a:tblPr firstRow="1" bandRow="1"/>
              <a:tblGrid>
                <a:gridCol w="491190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253478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908080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253574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관광지 정보</a:t>
                      </a:r>
                      <a:r>
                        <a:rPr lang="en-US" altLang="ko-KR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3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TouristSpots</a:t>
                      </a:r>
                      <a:r>
                        <a:rPr lang="en-US" altLang="ko-KR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3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32645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35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20313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3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3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50" b="1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350" b="1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관광지 목록을 시각적으로 제공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메인 섹션에 위치한 카드 리스트는 각 관광지의 주요 정보를 간략하게 표시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사용자는 각 카드에서 제공되는 버튼을 통해 추가 정보를 확인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카드 리스트는 사용자의 검색어에 따라 실시간으로 필터링</a:t>
                      </a:r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0413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검색 기능을 제공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사용자는 페이지 상단의 검색 바를 사용하여 관광지 이름이나 관련 키워드로 목록을 필터링 가능</a:t>
                      </a:r>
                      <a:r>
                        <a:rPr lang="en-US" altLang="ko-KR" sz="135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입력된 검색어는 상태로 관리되며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검색 버튼 클릭 시 화면에 </a:t>
                      </a:r>
                      <a:r>
                        <a:rPr lang="ko-KR" altLang="en-US" sz="1350" dirty="0" err="1"/>
                        <a:t>필터링된</a:t>
                      </a:r>
                      <a:r>
                        <a:rPr lang="ko-KR" altLang="en-US" sz="1350" dirty="0"/>
                        <a:t> 결과가 표시</a:t>
                      </a:r>
                      <a:endParaRPr lang="en-US" altLang="ko-KR" sz="135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10413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 err="1"/>
                        <a:t>페이지네이션</a:t>
                      </a:r>
                      <a:r>
                        <a:rPr lang="ko-KR" altLang="en-US" sz="1350" b="1" dirty="0"/>
                        <a:t> 기능을 제공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한 페이지에 표시할 수 있는 관광지 수</a:t>
                      </a:r>
                      <a:r>
                        <a:rPr lang="en-US" altLang="ko-KR" sz="1350" dirty="0"/>
                        <a:t>(6)</a:t>
                      </a:r>
                      <a:r>
                        <a:rPr lang="ko-KR" altLang="en-US" sz="1350" dirty="0"/>
                        <a:t>가 제한되어 있기 때문에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 err="1"/>
                        <a:t>페이지네이션을</a:t>
                      </a:r>
                      <a:r>
                        <a:rPr lang="ko-KR" altLang="en-US" sz="1350" dirty="0"/>
                        <a:t> 통해 사용자가 다음 페이지로 이동 가능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 err="1"/>
                        <a:t>페이지네이션은</a:t>
                      </a:r>
                      <a:r>
                        <a:rPr lang="ko-KR" altLang="en-US" sz="1350" dirty="0"/>
                        <a:t> 현재 페이지 번호와 총 페이지 수를 기준으로 사용자에게 제공</a:t>
                      </a:r>
                      <a:endParaRPr lang="en-US" altLang="ko-KR" sz="135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879635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3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3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35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관광지 데이터를 </a:t>
                      </a:r>
                      <a:r>
                        <a:rPr lang="en-US" altLang="ko-KR" sz="1350" b="1" dirty="0"/>
                        <a:t>Rest API</a:t>
                      </a:r>
                      <a:r>
                        <a:rPr lang="ko-KR" altLang="en-US" sz="1350" b="1" dirty="0"/>
                        <a:t>를 통해 제공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서버는 데이터베이스에서 관광지 정보를 가져와 </a:t>
                      </a:r>
                      <a:r>
                        <a:rPr lang="en-US" altLang="ko-KR" sz="1350" dirty="0"/>
                        <a:t>Rest API</a:t>
                      </a:r>
                      <a:r>
                        <a:rPr lang="ko-KR" altLang="en-US" sz="1350" dirty="0"/>
                        <a:t>를 통해 클라이언트에 제공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이 데이터는 클라이언트에서 관광지 카드 리스트와 검색 결과에 사용</a:t>
                      </a:r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1708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350" b="1" dirty="0"/>
                        <a:t>검색 요청에 따라 </a:t>
                      </a:r>
                      <a:r>
                        <a:rPr lang="ko-KR" altLang="en-US" sz="1350" b="1" dirty="0" err="1"/>
                        <a:t>필터링된</a:t>
                      </a:r>
                      <a:r>
                        <a:rPr lang="ko-KR" altLang="en-US" sz="1350" b="1" dirty="0"/>
                        <a:t> 관광지 데이터를 제공</a:t>
                      </a:r>
                      <a:endParaRPr lang="en-US" altLang="ko-KR" sz="1350" b="1" dirty="0"/>
                    </a:p>
                    <a:p>
                      <a:pPr marL="285750" indent="-2857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사용자가 검색어를 입력하면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서버는 해당 검색어에 맞는 관광지 목록을 필터링하여 반환</a:t>
                      </a:r>
                      <a:endParaRPr lang="en-US" altLang="ko-KR" sz="1350" dirty="0"/>
                    </a:p>
                    <a:p>
                      <a:pPr marL="285750" indent="-2857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이 데이터는 클라이언트에서 카드 형식으로 사용자에게 제공</a:t>
                      </a:r>
                      <a:endParaRPr lang="ko-Kore-KR" altLang="ko-KR" sz="135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9848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350" b="1" dirty="0"/>
                        <a:t>이미지 데이터를 </a:t>
                      </a:r>
                      <a:r>
                        <a:rPr lang="en-US" altLang="ko-KR" sz="1350" b="1" dirty="0"/>
                        <a:t>Base64</a:t>
                      </a:r>
                      <a:r>
                        <a:rPr lang="ko-KR" altLang="en-US" sz="1350" b="1" dirty="0"/>
                        <a:t>로 인코딩하여 제공</a:t>
                      </a:r>
                      <a:endParaRPr lang="en-US" altLang="ko-KR" sz="1350" b="1" dirty="0"/>
                    </a:p>
                    <a:p>
                      <a:pPr marL="285750" indent="-2857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서버는 이미지 데이터를 </a:t>
                      </a:r>
                      <a:r>
                        <a:rPr lang="en-US" altLang="ko-KR" sz="1350" dirty="0"/>
                        <a:t>Base64</a:t>
                      </a:r>
                      <a:r>
                        <a:rPr lang="ko-KR" altLang="en-US" sz="1350" dirty="0"/>
                        <a:t>로 인코딩하여 클라이언트에 제공</a:t>
                      </a:r>
                      <a:endParaRPr lang="en-US" altLang="ko-KR" sz="1350" dirty="0"/>
                    </a:p>
                    <a:p>
                      <a:pPr marL="285750" indent="-2857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이를 통해 클라이언트는 관광지 카드에서 이미지를 쉽게 렌더링</a:t>
                      </a:r>
                      <a:r>
                        <a:rPr lang="en-US" altLang="ko-KR" sz="1350" dirty="0"/>
                        <a:t> </a:t>
                      </a:r>
                      <a:r>
                        <a:rPr lang="ko-KR" altLang="en-US" sz="1350" dirty="0"/>
                        <a:t>가능</a:t>
                      </a:r>
                      <a:endParaRPr lang="ko-Kore-KR" altLang="ko-KR" sz="135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238761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3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3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001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1350" dirty="0"/>
                        <a:t>검색어 입력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카드 버튼 클릭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 err="1"/>
                        <a:t>페이지네이션</a:t>
                      </a:r>
                      <a:endParaRPr lang="en-US" altLang="ko-KR" sz="135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42683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350" dirty="0"/>
                        <a:t>검색 결과에 따른 관광지 목록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관광지 상세 정보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지도</a:t>
                      </a:r>
                      <a:endParaRPr lang="ko-Kore-KR" altLang="en-US" sz="135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spcBef>
                <a:spcPts val="640"/>
              </a:spcBef>
              <a:buClr>
                <a:schemeClr val="dk1"/>
              </a:buClr>
              <a:buSzPts val="3200"/>
              <a:buNone/>
              <a:defRPr kumimoji="1" sz="150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defRPr>
            </a:lvl1pPr>
            <a:lvl2pPr marL="914400" indent="-406400">
              <a:spcBef>
                <a:spcPts val="560"/>
              </a:spcBef>
              <a:buClr>
                <a:schemeClr val="dk1"/>
              </a:buClr>
              <a:buSzPts val="2800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indent="-381000">
              <a:spcBef>
                <a:spcPts val="480"/>
              </a:spcBef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indent="-355600">
              <a:spcBef>
                <a:spcPts val="400"/>
              </a:spcBef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indent="-355600">
              <a:spcBef>
                <a:spcPts val="400"/>
              </a:spcBef>
              <a:buClr>
                <a:schemeClr val="dk1"/>
              </a:buClr>
              <a:buSzPts val="2000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ko-KR" altLang="en-US" dirty="0"/>
              <a:t>검색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TouristSpots-01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D81FB7C-FBE8-FCFD-CEF0-AD3B2395B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9"/>
            <a:ext cx="13113610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38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지도 정보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203520"/>
              </p:ext>
            </p:extLst>
          </p:nvPr>
        </p:nvGraphicFramePr>
        <p:xfrm>
          <a:off x="13444339" y="608741"/>
          <a:ext cx="4652746" cy="9572483"/>
        </p:xfrm>
        <a:graphic>
          <a:graphicData uri="http://schemas.openxmlformats.org/drawingml/2006/table">
            <a:tbl>
              <a:tblPr firstRow="1" bandRow="1"/>
              <a:tblGrid>
                <a:gridCol w="492249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243991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916506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282973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지도정보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(Map)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82973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200" baseline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03188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200" b="1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baseline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baseline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네이버 지도 </a:t>
                      </a:r>
                      <a:r>
                        <a:rPr lang="en-US" altLang="ko-KR" sz="1200" b="1" dirty="0"/>
                        <a:t>API</a:t>
                      </a:r>
                      <a:r>
                        <a:rPr lang="ko-KR" altLang="en-US" sz="1200" b="1" dirty="0"/>
                        <a:t>와의 연동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네이버 지도 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를 활용하여 관광지와 대중교통 위치를 시각적으로 표시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클라이언트는 이 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를 통해 실시간 지도를 로드하고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관광지 및 교통수단 위치를 마커로 표시</a:t>
                      </a:r>
                      <a:endParaRPr lang="en-US" altLang="ko-KR" sz="1200" b="1" baseline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2529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baseline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baseline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지도에서 관광지와 대중교통 정보를 시각적으로 제공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메인 화면에서 관광지를 선택하거나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관광지정보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화면에서 특정 관광지를 선택하면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해당 관광지의 위치가 지도에 표시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사용자가 관광지 마커를 클릭하면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그에 따른 대중교통 정보도 지도에 함께 표시되며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 정보는 지도 왼쪽 패널 표시</a:t>
                      </a:r>
                      <a:endParaRPr lang="en-US" altLang="ko-KR" sz="1200" b="1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지도 위에 표시된 마커는 주변의 대중교통 시설을 나타내며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사용자가 이를 클릭하면 관련 정보가 표시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버스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지하철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기차 등 다양한 교통수단이 포함되며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각 교통수단에 대한 정보를 시각적으로 확인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마커의 아이콘은 교통수단 종류에 따라 다르게 표시되며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사용자는 직관적으로 구분</a:t>
                      </a:r>
                      <a:endParaRPr lang="en-US" altLang="ko-KR" sz="1200" b="1" baseline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84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baseline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baseline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지도 초기화 및 리셋 기능을 제공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/>
                        <a:t>사용자는 지도를 클릭하여 초기 상태로 리셋 가능</a:t>
                      </a:r>
                      <a:endParaRPr lang="en-US" altLang="ko-KR" sz="1200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/>
                        <a:t>이 기능은 사용자가 이전에 선택한 관광지나 대중교통 정보가 불필요해질 때 유용</a:t>
                      </a:r>
                      <a:endParaRPr lang="en-US" altLang="ko-KR" sz="1200" b="0" baseline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219117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200" b="1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baseline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baseline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baseline="0" dirty="0"/>
                        <a:t>관광지 위치의 경도와 위도를 </a:t>
                      </a:r>
                      <a:r>
                        <a:rPr lang="en-US" altLang="ko-KR" sz="1200" b="1" baseline="0" dirty="0"/>
                        <a:t>Rest API</a:t>
                      </a:r>
                      <a:r>
                        <a:rPr lang="ko-KR" altLang="en-US" sz="1200" b="1" baseline="0" dirty="0"/>
                        <a:t>를 통해 요청 시 제공</a:t>
                      </a:r>
                      <a:endParaRPr lang="en-US" altLang="ko-KR" sz="1200" b="1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/>
                        <a:t>서버에서 특정 관광지의 위치 정보를 </a:t>
                      </a:r>
                      <a:r>
                        <a:rPr lang="en-US" altLang="ko-KR" sz="1200" baseline="0" dirty="0"/>
                        <a:t>Rest API</a:t>
                      </a:r>
                      <a:r>
                        <a:rPr lang="ko-KR" altLang="en-US" sz="1200" baseline="0" dirty="0"/>
                        <a:t>를 사용하여 경도와 위도 형식으로 제공하는 기능</a:t>
                      </a:r>
                      <a:endParaRPr lang="en-US" altLang="ko-KR" sz="1200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/>
                        <a:t>이 정보는 주로 다른 시스템이나 서비스에서 관광지의 정확한 위치를 필요로 할 때 사용</a:t>
                      </a:r>
                      <a:endParaRPr lang="en-US" altLang="ko-KR" sz="1200" b="1" baseline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153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baseline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baseline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00" b="1" baseline="0" dirty="0"/>
                        <a:t>개별 관광지 위치에 근접한 대중교통 정보를 </a:t>
                      </a:r>
                      <a:r>
                        <a:rPr lang="en-US" altLang="ko-KR" sz="1200" b="1" baseline="0" dirty="0"/>
                        <a:t>Rest API</a:t>
                      </a:r>
                      <a:r>
                        <a:rPr lang="ko-KR" altLang="en-US" sz="1200" b="1" baseline="0" dirty="0"/>
                        <a:t>를 통해 요청 시 제공</a:t>
                      </a:r>
                      <a:endParaRPr lang="en-US" altLang="ko-KR" sz="1200" b="1" baseline="0" dirty="0"/>
                    </a:p>
                    <a:p>
                      <a:pPr marL="285750" indent="-2857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/>
                        <a:t>관광지 주변의 대중교통 정보</a:t>
                      </a:r>
                      <a:r>
                        <a:rPr lang="en-US" altLang="ko-KR" sz="1200" baseline="0" dirty="0"/>
                        <a:t>(</a:t>
                      </a:r>
                      <a:r>
                        <a:rPr lang="ko-KR" altLang="en-US" sz="1200" baseline="0" dirty="0"/>
                        <a:t>버스 정류장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지하철역 등</a:t>
                      </a:r>
                      <a:r>
                        <a:rPr lang="en-US" altLang="ko-KR" sz="1200" baseline="0" dirty="0"/>
                        <a:t>)</a:t>
                      </a:r>
                      <a:r>
                        <a:rPr lang="ko-KR" altLang="en-US" sz="1200" baseline="0" dirty="0"/>
                        <a:t>를 </a:t>
                      </a:r>
                      <a:r>
                        <a:rPr lang="en-US" altLang="ko-KR" sz="1200" baseline="0" dirty="0"/>
                        <a:t>Rest API</a:t>
                      </a:r>
                      <a:r>
                        <a:rPr lang="ko-KR" altLang="en-US" sz="1200" baseline="0" dirty="0"/>
                        <a:t>를 통해 제공하는 기능</a:t>
                      </a:r>
                      <a:endParaRPr lang="en-US" altLang="ko-KR" sz="1200" baseline="0" dirty="0"/>
                    </a:p>
                    <a:p>
                      <a:pPr marL="285750" indent="-28575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/>
                        <a:t>사용자는 선택한 관광지 근처의 교통편을 확인</a:t>
                      </a:r>
                      <a:endParaRPr lang="ko-Kore-KR" sz="1200" b="1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153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baseline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baseline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baseline="0" dirty="0"/>
                        <a:t>관광지 클릭 시 관광지에 대한 정보를 </a:t>
                      </a:r>
                      <a:r>
                        <a:rPr lang="en-US" altLang="ko-KR" sz="1200" b="1" baseline="0" dirty="0"/>
                        <a:t>Rest API</a:t>
                      </a:r>
                      <a:r>
                        <a:rPr lang="ko-KR" altLang="en-US" sz="1200" b="1" baseline="0" dirty="0"/>
                        <a:t>를 통해서 요청 시 제공</a:t>
                      </a:r>
                      <a:endParaRPr lang="en-US" altLang="ko-KR" sz="1200" b="1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aseline="0" dirty="0"/>
                        <a:t>사용자가 특정 관광지를 클릭하면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그 관광지에 대한 정보를 </a:t>
                      </a:r>
                      <a:r>
                        <a:rPr lang="en-US" altLang="ko-KR" sz="1200" baseline="0" dirty="0"/>
                        <a:t>Rest API</a:t>
                      </a:r>
                      <a:r>
                        <a:rPr lang="ko-KR" altLang="en-US" sz="1200" baseline="0" dirty="0"/>
                        <a:t>를 통해 요청하고</a:t>
                      </a:r>
                      <a:r>
                        <a:rPr lang="en-US" altLang="ko-KR" sz="1200" baseline="0" dirty="0"/>
                        <a:t>, </a:t>
                      </a:r>
                      <a:r>
                        <a:rPr lang="ko-KR" altLang="en-US" sz="1200" baseline="0" dirty="0"/>
                        <a:t>서버에서 그에 대한 데이터를 반환하여 사용자에게 제공</a:t>
                      </a:r>
                      <a:endParaRPr lang="en-US" altLang="ko-KR" sz="1200" b="1" baseline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282973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2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2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2829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1200" dirty="0"/>
                        <a:t>관광지 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대중교통 마커 클릭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지도 클릭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리셋</a:t>
                      </a:r>
                      <a:r>
                        <a:rPr lang="en-US" altLang="ko-KR" sz="1200" dirty="0"/>
                        <a:t>)</a:t>
                      </a:r>
                      <a:endParaRPr lang="en-US" altLang="ko-KR" sz="1200" baseline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507777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00" dirty="0"/>
                        <a:t>선택된 관광지의 위치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대중교통 마커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관광지 및 대중교통 상세 정보</a:t>
                      </a:r>
                      <a:endParaRPr lang="ko-Kore-KR" altLang="en-US" sz="120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탐색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Map-01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2046BE-178B-3CEA-6977-B23BCE399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8"/>
            <a:ext cx="13113610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92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여행지 공유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034355"/>
              </p:ext>
            </p:extLst>
          </p:nvPr>
        </p:nvGraphicFramePr>
        <p:xfrm>
          <a:off x="13444339" y="608730"/>
          <a:ext cx="4652748" cy="9572494"/>
        </p:xfrm>
        <a:graphic>
          <a:graphicData uri="http://schemas.openxmlformats.org/drawingml/2006/table">
            <a:tbl>
              <a:tblPr firstRow="1" bandRow="1"/>
              <a:tblGrid>
                <a:gridCol w="491190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253478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908080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15060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공유게시판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BoardList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설명</a:t>
                      </a:r>
                      <a:endParaRPr lang="ko-Kore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31506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40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41029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게시글 목록을 시각적으로 제공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게시글 목록은 게시글의 주요 정보를 한눈에 볼 수 있도록 카드 형식으로 정리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사용자는 각 게시글 카드를 클릭하여 게시글의 상세 내용으로 이동할 수 있으며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게시글의 간략한 정보를 목록에서 즉시 확인</a:t>
                      </a:r>
                      <a:endParaRPr lang="en-US" altLang="ko-KR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4102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게시글 작성 기능을 제공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사용자는 게시글 작성 버튼을 통해 새로운 게시글을 작성 가능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이 기능은 </a:t>
                      </a:r>
                      <a:r>
                        <a:rPr lang="ko-KR" altLang="en-US" dirty="0" err="1"/>
                        <a:t>로그인된</a:t>
                      </a:r>
                      <a:r>
                        <a:rPr lang="ko-KR" altLang="en-US" dirty="0"/>
                        <a:t> 사용자에게만 제공되며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비로그인 상태에서 접근하려 하면 로그인 페이지로 안내</a:t>
                      </a:r>
                      <a:endParaRPr lang="en-US" altLang="ko-KR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11912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 err="1"/>
                        <a:t>페이지네이션</a:t>
                      </a:r>
                      <a:r>
                        <a:rPr lang="ko-KR" altLang="en-US" b="1" dirty="0"/>
                        <a:t> 기능을 제공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많은 게시글이 있을 경우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페이지네이션을</a:t>
                      </a:r>
                      <a:r>
                        <a:rPr lang="ko-KR" altLang="en-US" dirty="0"/>
                        <a:t> 통해 다른 페이지의 게시글로 이동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이전에 관광지정보 페이지의 </a:t>
                      </a:r>
                      <a:r>
                        <a:rPr lang="ko-KR" altLang="en-US" dirty="0" err="1"/>
                        <a:t>페이지네이션</a:t>
                      </a:r>
                      <a:r>
                        <a:rPr lang="ko-KR" altLang="en-US" dirty="0"/>
                        <a:t> 기능을 재사용</a:t>
                      </a:r>
                      <a:endParaRPr lang="en-US" altLang="ko-KR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75315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게시글 데이터를 </a:t>
                      </a:r>
                      <a:r>
                        <a:rPr lang="en-US" altLang="ko-KR" b="1" dirty="0"/>
                        <a:t>Rest API</a:t>
                      </a:r>
                      <a:r>
                        <a:rPr lang="ko-KR" altLang="en-US" b="1" dirty="0"/>
                        <a:t>를 통해 제공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서버는 데이터베이스에서 게시글 목록을 가져와 </a:t>
                      </a:r>
                      <a:r>
                        <a:rPr lang="en-US" altLang="ko-KR" dirty="0"/>
                        <a:t>Rest API</a:t>
                      </a:r>
                      <a:r>
                        <a:rPr lang="ko-KR" altLang="en-US" dirty="0"/>
                        <a:t>를 통해 클라이언트에 제공</a:t>
                      </a:r>
                      <a:endParaRPr lang="en-US" altLang="ko-KR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629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게시글 작성 기능을 지원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0" dirty="0"/>
                        <a:t>서버는 사용자가 작성한 게시글 데이터를 데이터베이스에 저장하며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이를 통해 게시글 목록이 자동으로 업데이트</a:t>
                      </a:r>
                      <a:endParaRPr lang="en-US" altLang="ko-KR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0" dirty="0"/>
                        <a:t>게시글 작성 시</a:t>
                      </a:r>
                      <a:r>
                        <a:rPr lang="en-US" altLang="ko-KR" b="0" dirty="0"/>
                        <a:t>, JWT </a:t>
                      </a:r>
                      <a:r>
                        <a:rPr lang="ko-KR" altLang="en-US" b="0" dirty="0"/>
                        <a:t>인증을 통해 사용자가 </a:t>
                      </a:r>
                      <a:r>
                        <a:rPr lang="ko-KR" altLang="en-US" b="0" dirty="0" err="1"/>
                        <a:t>로그인된</a:t>
                      </a:r>
                      <a:r>
                        <a:rPr lang="ko-KR" altLang="en-US" b="0" dirty="0"/>
                        <a:t> 상태에서만 게시글을 작성할 수 있도록 보안을 유지</a:t>
                      </a:r>
                      <a:endParaRPr lang="en-US" altLang="ko-KR" b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5856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b="1" dirty="0"/>
                        <a:t>게시글 데이터의 실시간 업데이트</a:t>
                      </a:r>
                      <a:endParaRPr lang="en-US" altLang="ko-KR" b="1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사용자가 게시글을 작성하거나 삭제할 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서버는 데이터베이스에서 실시간으로 데이터를 갱신</a:t>
                      </a:r>
                      <a:endParaRPr lang="en-US" altLang="ko-KR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클라이언트는 이 데이터를 다시 요청하여 최신 상태를 반영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15060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211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게시글 작성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게시글 카드 클릭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페이지네이션</a:t>
                      </a:r>
                      <a:endParaRPr lang="ko-KR" altLang="en-US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26142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dirty="0"/>
                        <a:t>게시글 목록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게시글 상세 정보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새로운 게시글</a:t>
                      </a:r>
                      <a:endParaRPr lang="ko-Kore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게시판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BoardForm-01</a:t>
            </a:r>
            <a:endParaRPr lang="ko-KR" altLang="en-US" dirty="0"/>
          </a:p>
        </p:txBody>
      </p:sp>
      <p:pic>
        <p:nvPicPr>
          <p:cNvPr id="4" name="Picture 2" descr="Board.png">
            <a:extLst>
              <a:ext uri="{FF2B5EF4-FFF2-40B4-BE49-F238E27FC236}">
                <a16:creationId xmlns:a16="http://schemas.microsoft.com/office/drawing/2014/main" id="{DDB2403D-3DAF-26D7-C7D5-C39169619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8"/>
            <a:ext cx="13113610" cy="960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25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여행지 공유 상세 보기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656479"/>
              </p:ext>
            </p:extLst>
          </p:nvPr>
        </p:nvGraphicFramePr>
        <p:xfrm>
          <a:off x="13444339" y="608729"/>
          <a:ext cx="4652751" cy="9572495"/>
        </p:xfrm>
        <a:graphic>
          <a:graphicData uri="http://schemas.openxmlformats.org/drawingml/2006/table">
            <a:tbl>
              <a:tblPr firstRow="1" bandRow="1"/>
              <a:tblGrid>
                <a:gridCol w="467315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467315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718121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277401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상세보기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BoardDetail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77401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20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01157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게시글 상세 정보를 시각적으로 제공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게시글 제목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본문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작성자 정보가 화면에 강조되어 표시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본문 내용은 다양한 텍스트 스타일과 이미지가 포함될 수 있어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사용자가 필요한 정보를 쉽게 파악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0115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게시글 수정 및 삭제 기능을 제공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게시글 작성자만 수정 및 삭제 버튼을 통해 자신의 게시글을 관리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수정 버튼을 클릭하면 게시글 수정 페이지로 이동하며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삭제 버튼을 클릭하면 게시글이 삭제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13786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댓글 기능을 제공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사용자는 댓글 섹션에서 자신의 의견 남기기 가능</a:t>
                      </a:r>
                      <a:r>
                        <a:rPr lang="en-US" altLang="ko-KR" sz="12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댓글은 실시간으로 반영되며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수정 및 삭제가 가능</a:t>
                      </a:r>
                      <a:endParaRPr lang="en-US" altLang="ko-KR" sz="1200" dirty="0"/>
                    </a:p>
                    <a:p>
                      <a:r>
                        <a:rPr lang="ko-KR" altLang="en-US" sz="1200" b="1" dirty="0"/>
                        <a:t>좋아요 기능을 제공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사용자는 </a:t>
                      </a:r>
                      <a:r>
                        <a:rPr lang="ko-KR" altLang="en-US" sz="1200" dirty="0" err="1"/>
                        <a:t>게시글에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하트이모지를</a:t>
                      </a:r>
                      <a:r>
                        <a:rPr lang="ko-KR" altLang="en-US" sz="1200" dirty="0"/>
                        <a:t> 표시하여 자신이 이 게시글을 좋아한다는 것을 표현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좋아요 수는 실시간으로 업데이트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562197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게시글 데이터를 </a:t>
                      </a:r>
                      <a:r>
                        <a:rPr lang="en-US" altLang="ko-KR" sz="1200" b="1" dirty="0"/>
                        <a:t>Rest API</a:t>
                      </a:r>
                      <a:r>
                        <a:rPr lang="ko-KR" altLang="en-US" sz="1200" b="1" dirty="0"/>
                        <a:t>를 통해 제공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서버는 선택된 게시글의 상세 데이터를 </a:t>
                      </a:r>
                      <a:r>
                        <a:rPr lang="en-US" altLang="ko-KR" sz="1200" dirty="0"/>
                        <a:t>Rest API</a:t>
                      </a:r>
                      <a:r>
                        <a:rPr lang="ko-KR" altLang="en-US" sz="1200" dirty="0"/>
                        <a:t>를 통해 클라이언트에 제공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이 데이터에는 게시글의 제목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내용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작성자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작성일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수정일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이미지 등이 포함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사용자가 게시글을 요청할 때마다 해당 게시글의 조회수를 증가시키는 로직이 포함되어 있으며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조회수는 데이터베이스에 실시간으로 반영</a:t>
                      </a:r>
                      <a:endParaRPr lang="en-US" altLang="ko-KR" sz="120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1951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게시글 수정 및 삭제 기능을 지원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서버는 </a:t>
                      </a:r>
                      <a:r>
                        <a:rPr lang="en-US" altLang="ko-KR" sz="1200" dirty="0"/>
                        <a:t>JWT</a:t>
                      </a:r>
                      <a:r>
                        <a:rPr lang="ko-KR" altLang="en-US" sz="1200" dirty="0"/>
                        <a:t>를 통해 인증된 사용자가 자신의 게시글을 수정하거나 삭제할 수 있도록 지원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수정된 게시글 데이터는 데이터베이스에 업데이트되며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삭제된 게시글은 데이터베이스에서 완전히 제거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929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댓글 기능을 지원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사용자가 댓글을 작성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삭제할 때 서버는 이를 처리하고 데이터베이스에 반영</a:t>
                      </a:r>
                      <a:endParaRPr lang="en-US" altLang="ko-KR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댓글 데이터는 게시글과 연관되어 저장되며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새로운 댓글이 추가되면 해당 게시글의 댓글 목록이 자동으로 갱신</a:t>
                      </a:r>
                      <a:endParaRPr lang="en-US" altLang="ko-KR" sz="1200" dirty="0"/>
                    </a:p>
                    <a:p>
                      <a:endParaRPr lang="en-US" altLang="ko-KR" sz="1200" dirty="0"/>
                    </a:p>
                    <a:p>
                      <a:r>
                        <a:rPr lang="ko-KR" altLang="en-US" sz="1200" b="1" dirty="0"/>
                        <a:t>좋아요 기능을 지원</a:t>
                      </a:r>
                      <a:endParaRPr lang="en-US" altLang="ko-KR" sz="12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서버는 사용자가 </a:t>
                      </a:r>
                      <a:r>
                        <a:rPr lang="ko-KR" altLang="en-US" sz="1200" dirty="0" err="1"/>
                        <a:t>게시글에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좋아요를</a:t>
                      </a:r>
                      <a:r>
                        <a:rPr lang="ko-KR" altLang="en-US" sz="1200" dirty="0"/>
                        <a:t> 누를 때마다 해당 게시글의 좋아요 수를 업데이트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277401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274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1200" dirty="0"/>
                        <a:t>댓글 작성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수정 및 삭제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게시글 수정 및 삭제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좋아요 클릭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2443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00" dirty="0"/>
                        <a:t>게시글 상세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댓글 목록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좋아요 수</a:t>
                      </a:r>
                      <a:endParaRPr lang="ko-Kore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게시판 상세 화면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BoardDetail-01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3" name="Picture 2" descr="BoardDetail.png">
            <a:extLst>
              <a:ext uri="{FF2B5EF4-FFF2-40B4-BE49-F238E27FC236}">
                <a16:creationId xmlns:a16="http://schemas.microsoft.com/office/drawing/2014/main" id="{5A149AE5-4321-3D9A-5642-93FECE7EC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8"/>
            <a:ext cx="13113610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38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여행지 공유 글쓰기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54613"/>
              </p:ext>
            </p:extLst>
          </p:nvPr>
        </p:nvGraphicFramePr>
        <p:xfrm>
          <a:off x="13448775" y="608730"/>
          <a:ext cx="4648314" cy="9572491"/>
        </p:xfrm>
        <a:graphic>
          <a:graphicData uri="http://schemas.openxmlformats.org/drawingml/2006/table">
            <a:tbl>
              <a:tblPr firstRow="1" bandRow="1"/>
              <a:tblGrid>
                <a:gridCol w="446812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230576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970926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287019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여행 공유하기</a:t>
                      </a:r>
                      <a:r>
                        <a:rPr lang="en-US" altLang="ko-KR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BoardEdit</a:t>
                      </a:r>
                      <a:r>
                        <a:rPr lang="en-US" altLang="ko-KR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2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8701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25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2495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2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5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게시글 작성 및 수정 기능을 제공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사용자는 제목과 본문을 작성한 후 이미지를 업로드하여 자신만의 여행 이야기를 공유 가능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게시글 작성 또는 수정 후 저장 버튼을 통해 게시글을 서버에 전송하고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성공적으로 저장된 후에는 게시글 목록 페이지로 이동</a:t>
                      </a:r>
                      <a:endParaRPr lang="en-US" altLang="ko-KR" sz="12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2495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이미지 업로드 및 미리보기 기능을 제공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사용자는 </a:t>
                      </a:r>
                      <a:r>
                        <a:rPr lang="ko-KR" altLang="en-US" sz="1250" dirty="0" err="1"/>
                        <a:t>게시글에</a:t>
                      </a:r>
                      <a:r>
                        <a:rPr lang="ko-KR" altLang="en-US" sz="1250" dirty="0"/>
                        <a:t> 포함할 이미지를 업로드할 수 있으며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 err="1"/>
                        <a:t>업로드된</a:t>
                      </a:r>
                      <a:r>
                        <a:rPr lang="ko-KR" altLang="en-US" sz="1250" dirty="0"/>
                        <a:t> 이미지를 실시간으로 미리보기가 가능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이 기능은 사용자가 업로드한 이미지를 확인하고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필요 시 변경할 수 있도록 지원</a:t>
                      </a:r>
                      <a:endParaRPr lang="en-US" altLang="ko-KR" sz="12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10570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폼 제출 시 로딩 상태 관리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폼 제출 시 서버로의 요청이 처리되는 동안 로딩 상태가 표시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요청이 완료되기 전까지는 사용자가 추가로 다른 작업을 수행할 수 없도록 버튼을 비활성화</a:t>
                      </a:r>
                      <a:endParaRPr lang="en-US" altLang="ko-KR" sz="125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201962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2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5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게시글 데이터의 저장 및 수정 기능을 지원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서버는 사용자가 작성한 게시글 데이터를 데이터베이스에 저장하거나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기존 게시글을 수정할 때 데이터를 업데이트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게시글 데이터에는 제목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내용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 err="1"/>
                        <a:t>업로드된</a:t>
                      </a:r>
                      <a:r>
                        <a:rPr lang="ko-KR" altLang="en-US" sz="1250" dirty="0"/>
                        <a:t> 이미지 경로 등이 포함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50" dirty="0"/>
                        <a:t>JWT </a:t>
                      </a:r>
                      <a:r>
                        <a:rPr lang="ko-KR" altLang="en-US" sz="1250" dirty="0"/>
                        <a:t>인증을 통해 사용자를 인증하며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인증된 사용자만이 게시글을 작성하거나 수정 가능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작성 또는 수정된 데이터는 서버의 데이터베이스에 안전하게 저장</a:t>
                      </a:r>
                      <a:endParaRPr lang="en-US" altLang="ko-KR" sz="12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2495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이미지 업로드 및 저장 기능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업로드한 이미지는 서버로 전송 </a:t>
                      </a:r>
                      <a:r>
                        <a:rPr lang="ko-KR" altLang="en-US" sz="1250" dirty="0" err="1"/>
                        <a:t>업로드된</a:t>
                      </a:r>
                      <a:r>
                        <a:rPr lang="ko-KR" altLang="en-US" sz="1250" dirty="0"/>
                        <a:t> 이미지의 경로는 게시글 데이터와 함께 데이터베이스에 저장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게시글을 조회할 때 해당 이미지가 함께 표시</a:t>
                      </a:r>
                      <a:endParaRPr lang="en-US" altLang="ko-KR" sz="12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2495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게시글 작성</a:t>
                      </a:r>
                      <a:r>
                        <a:rPr lang="en-US" altLang="ko-KR" sz="1250" b="1" dirty="0"/>
                        <a:t>/</a:t>
                      </a:r>
                      <a:r>
                        <a:rPr lang="ko-KR" altLang="en-US" sz="1250" b="1" dirty="0"/>
                        <a:t>수정 완료 후 </a:t>
                      </a:r>
                      <a:r>
                        <a:rPr lang="ko-KR" altLang="en-US" sz="1250" b="1" dirty="0" err="1"/>
                        <a:t>리디렉션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게시글을 성공적으로 작성하거나 수정한 후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서버는 클라이언트를 게시글 목록 페이지로 </a:t>
                      </a:r>
                      <a:r>
                        <a:rPr lang="ko-KR" altLang="en-US" sz="1250" dirty="0" err="1"/>
                        <a:t>리디렉션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이를 통해 사용자는 자신이 작성하거나 수정한 게시글을 확인</a:t>
                      </a:r>
                      <a:endParaRPr lang="en-US" altLang="ko-KR" sz="12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287019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2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2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2820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12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50" dirty="0"/>
                        <a:t> 제목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본문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이미지 업로드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8226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50" dirty="0"/>
                        <a:t>저장된 게시글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 err="1"/>
                        <a:t>업로드된</a:t>
                      </a:r>
                      <a:r>
                        <a:rPr lang="ko-KR" altLang="en-US" sz="1250" dirty="0"/>
                        <a:t> 이미지</a:t>
                      </a:r>
                      <a:endParaRPr lang="ko-Kore-KR" altLang="en-US" sz="125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게시글 작성 화면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BoardDetail-01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4" name="Picture 2" descr="BoardForm.png">
            <a:extLst>
              <a:ext uri="{FF2B5EF4-FFF2-40B4-BE49-F238E27FC236}">
                <a16:creationId xmlns:a16="http://schemas.microsoft.com/office/drawing/2014/main" id="{C0F44BFA-D38C-01B0-1F4B-60209D791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30"/>
            <a:ext cx="13113610" cy="95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40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마이 페이지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00471"/>
              </p:ext>
            </p:extLst>
          </p:nvPr>
        </p:nvGraphicFramePr>
        <p:xfrm>
          <a:off x="13444339" y="608729"/>
          <a:ext cx="4635563" cy="9575339"/>
        </p:xfrm>
        <a:graphic>
          <a:graphicData uri="http://schemas.openxmlformats.org/drawingml/2006/table">
            <a:tbl>
              <a:tblPr firstRow="1" bandRow="1"/>
              <a:tblGrid>
                <a:gridCol w="490647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241157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903759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559889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마이페이지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MyPage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46861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40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15917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사용자 정보 확인 및 관리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사용자는 마이 페이지에서 자신의 계정 정보를 확인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서버에서 이메일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닉네임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등의 정보를 가져와 표시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3532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게시글 및 댓글 관리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사용자는 자신이 작성한 게시글과 댓글을 마이 페이지에서 관리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0" dirty="0"/>
                        <a:t>링크를 통해 해당 게시글 상세 페이지로 이동</a:t>
                      </a:r>
                      <a:endParaRPr lang="en-US" altLang="ko-KR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0" dirty="0"/>
                        <a:t>댓글을 조회만 가능</a:t>
                      </a:r>
                      <a:endParaRPr lang="en-US" altLang="ko-KR" b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943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계정 관리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비밀번호 변경 및 회원 탈퇴 처리</a:t>
                      </a:r>
                      <a:r>
                        <a:rPr lang="en-US" altLang="ko-KR" dirty="0"/>
                        <a:t>---</a:t>
                      </a:r>
                      <a:r>
                        <a:rPr lang="ko-KR" altLang="en-US" dirty="0" err="1"/>
                        <a:t>미구현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15917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b="1" dirty="0"/>
                        <a:t>사용자 정보 제공</a:t>
                      </a:r>
                      <a:endParaRPr lang="en-US" altLang="ko-KR" b="1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b="0" dirty="0"/>
                        <a:t>서버는 사용자의 최신 정보를 데이터베이스에서 가져와 </a:t>
                      </a:r>
                      <a:r>
                        <a:rPr lang="en-US" altLang="ko-KR" b="0" dirty="0"/>
                        <a:t>Rest API</a:t>
                      </a:r>
                      <a:r>
                        <a:rPr lang="ko-KR" altLang="en-US" b="0" dirty="0"/>
                        <a:t>를 통한 정보 제공</a:t>
                      </a:r>
                      <a:r>
                        <a:rPr lang="en-US" altLang="ko-KR" b="0" dirty="0"/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b="0" dirty="0"/>
                        <a:t>JWT </a:t>
                      </a:r>
                      <a:r>
                        <a:rPr lang="ko-KR" altLang="en-US" b="0" dirty="0"/>
                        <a:t>인증을 통해 사용자 인증을 처리</a:t>
                      </a:r>
                      <a:endParaRPr lang="en-US" altLang="ko-KR" b="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3532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게시글 및 댓글 관리 지원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서버는 사용자가 작성한 게시글과 댓글을 </a:t>
                      </a:r>
                      <a:r>
                        <a:rPr lang="en-US" altLang="ko-KR" dirty="0"/>
                        <a:t>Rest API</a:t>
                      </a:r>
                      <a:r>
                        <a:rPr lang="ko-KR" altLang="en-US" dirty="0"/>
                        <a:t>로 제공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현재 조회 처리만 제공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수정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삭제 처리</a:t>
                      </a:r>
                      <a:r>
                        <a:rPr lang="en-US" altLang="ko-KR" dirty="0"/>
                        <a:t>---</a:t>
                      </a:r>
                      <a:r>
                        <a:rPr lang="ko-KR" altLang="en-US" dirty="0" err="1"/>
                        <a:t>미구현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8229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계정 관리 지원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비밀번호 변경 및 회원 탈퇴 처리</a:t>
                      </a:r>
                      <a:r>
                        <a:rPr lang="en-US" altLang="ko-KR" dirty="0"/>
                        <a:t>---</a:t>
                      </a:r>
                      <a:r>
                        <a:rPr lang="ko-KR" altLang="en-US" dirty="0" err="1"/>
                        <a:t>미구현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527186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6627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 사용자 정보 수정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게시글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댓글 수정 및 삭제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비밀번호 변경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회원 탈퇴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562484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dirty="0"/>
                        <a:t>업데이트된 사용자 정보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게시글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댓글 목록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계정 상태</a:t>
                      </a:r>
                      <a:endParaRPr lang="ko-Kore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회원 조회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MyPage-01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3" name="Picture 2" descr="MyPage.png">
            <a:extLst>
              <a:ext uri="{FF2B5EF4-FFF2-40B4-BE49-F238E27FC236}">
                <a16:creationId xmlns:a16="http://schemas.microsoft.com/office/drawing/2014/main" id="{B6937D82-0258-933A-A7FC-962C836F1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58" y="608729"/>
            <a:ext cx="13108462" cy="9572495"/>
          </a:xfrm>
          <a:prstGeom prst="rect">
            <a:avLst/>
          </a:prstGeom>
        </p:spPr>
      </p:pic>
      <p:pic>
        <p:nvPicPr>
          <p:cNvPr id="4" name="Picture 2" descr="MyPage.png">
            <a:extLst>
              <a:ext uri="{FF2B5EF4-FFF2-40B4-BE49-F238E27FC236}">
                <a16:creationId xmlns:a16="http://schemas.microsoft.com/office/drawing/2014/main" id="{F598C10E-CEB3-A49D-EFF9-6DEBD32C1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77" y="608729"/>
            <a:ext cx="13108462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10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로그인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435373"/>
              </p:ext>
            </p:extLst>
          </p:nvPr>
        </p:nvGraphicFramePr>
        <p:xfrm>
          <a:off x="13444339" y="608732"/>
          <a:ext cx="4652751" cy="9703414"/>
        </p:xfrm>
        <a:graphic>
          <a:graphicData uri="http://schemas.openxmlformats.org/drawingml/2006/table">
            <a:tbl>
              <a:tblPr firstRow="1" bandRow="1"/>
              <a:tblGrid>
                <a:gridCol w="467315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467315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718121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249943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(login)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49943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643983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0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이메일 입력 필드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화면 중앙에 위치하며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사용자가 로그인 시 이메일 주소를 입력 가능</a:t>
                      </a:r>
                      <a:r>
                        <a:rPr lang="en-US" altLang="ko-KR" sz="10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필수 입력 필드로 설정되어 있으며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이메일 형식에 맞는 유효성 검사가 적용</a:t>
                      </a:r>
                      <a:endParaRPr lang="en-US" altLang="ko-KR" sz="1000" dirty="0"/>
                    </a:p>
                    <a:p>
                      <a:r>
                        <a:rPr lang="ko-KR" altLang="en-US" sz="1000" b="1" dirty="0"/>
                        <a:t>비밀번호 입력 필드</a:t>
                      </a:r>
                      <a:endParaRPr lang="en-US" altLang="ko-KR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이메일 입력 필드 아래에 위치하며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사용자가 계정의 비밀번호를 입력 가능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필수 입력 필드로 설정되어 있으며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보안을 위해 입력된 텍스트는 숨겨진 상태로 표시</a:t>
                      </a:r>
                      <a:endParaRPr lang="en-US" altLang="ko-KR" sz="100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8695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0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로그인 버튼</a:t>
                      </a:r>
                      <a:endParaRPr lang="en-US" altLang="ko-KR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사용자가 입력한 이메일과 비밀번호를 서버로 전송하여 로그인 요청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버튼 클릭 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데이터가 서버로 전송되며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요청이 처리되는 동안 로딩 상태를 표시</a:t>
                      </a:r>
                      <a:endParaRPr lang="en-US" altLang="ko-KR" sz="100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1489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0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아이디 찾기 및 비밀번호 찾기 기능을 통해 계정 복구를 지원</a:t>
                      </a:r>
                      <a:endParaRPr lang="en-US" altLang="ko-KR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사용자가 아이디나 비밀번호를 잊었을 때 찾기 페이지로 이동</a:t>
                      </a:r>
                      <a:endParaRPr lang="en-US" altLang="ko-KR" sz="1000" dirty="0"/>
                    </a:p>
                    <a:p>
                      <a:endParaRPr lang="en-US" altLang="ko-KR" sz="1000" dirty="0"/>
                    </a:p>
                    <a:p>
                      <a:r>
                        <a:rPr lang="ko-KR" altLang="en-US" sz="1000" b="1" dirty="0"/>
                        <a:t>회원가입 링크</a:t>
                      </a:r>
                      <a:endParaRPr lang="en-US" altLang="ko-KR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계정이 없는 사용자가 회원가입 페이지로 이동</a:t>
                      </a:r>
                      <a:endParaRPr lang="en-US" altLang="ko-KR" sz="1000" dirty="0"/>
                    </a:p>
                    <a:p>
                      <a:endParaRPr lang="en-US" altLang="ko-KR" sz="1000" b="1" dirty="0"/>
                    </a:p>
                    <a:p>
                      <a:r>
                        <a:rPr lang="ko-KR" altLang="en-US" sz="1000" b="1" dirty="0"/>
                        <a:t>소셜 로그인 버튼</a:t>
                      </a:r>
                      <a:endParaRPr lang="en-US" altLang="ko-KR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사용자가 </a:t>
                      </a:r>
                      <a:r>
                        <a:rPr lang="en-US" altLang="ko-KR" sz="1000" dirty="0"/>
                        <a:t>Google, Naver, Kakao</a:t>
                      </a:r>
                      <a:r>
                        <a:rPr lang="ko-KR" altLang="en-US" sz="1000" dirty="0"/>
                        <a:t>와 같은 소셜 계정을 사용하여 로그인할 수 있는 기능을 제공</a:t>
                      </a:r>
                      <a:endParaRPr lang="en-US" altLang="ko-KR" sz="10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79887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0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0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인증 과정</a:t>
                      </a:r>
                      <a:endParaRPr lang="en-US" altLang="ko-KR" sz="1000" b="1" dirty="0"/>
                    </a:p>
                    <a:p>
                      <a:r>
                        <a:rPr lang="ko-KR" altLang="en-US" sz="1000" b="1" dirty="0"/>
                        <a:t>입력 데이터 유효성 검사</a:t>
                      </a:r>
                      <a:endParaRPr lang="en-US" altLang="ko-KR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서버는 클라이언트로부터 전송된 이메일과 비밀번호를 수신하여 유효성 검사를 수행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이메일 형식이 </a:t>
                      </a:r>
                      <a:r>
                        <a:rPr lang="ko-KR" altLang="en-US" sz="1000" dirty="0" err="1"/>
                        <a:t>올바른지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비밀번호가 적절한지 확인</a:t>
                      </a:r>
                      <a:endParaRPr lang="en-US" altLang="ko-KR" sz="1000" b="1" dirty="0"/>
                    </a:p>
                    <a:p>
                      <a:r>
                        <a:rPr lang="ko-KR" altLang="en-US" sz="1000" b="1" dirty="0"/>
                        <a:t>사용자 인증 </a:t>
                      </a:r>
                      <a:r>
                        <a:rPr lang="en-US" altLang="ko-KR" sz="1000" b="1" dirty="0"/>
                        <a:t>(JWT </a:t>
                      </a:r>
                      <a:r>
                        <a:rPr lang="ko-KR" altLang="en-US" sz="1000" b="1" dirty="0"/>
                        <a:t>사용</a:t>
                      </a:r>
                      <a:r>
                        <a:rPr lang="en-US" altLang="ko-KR" sz="1000" b="1" dirty="0"/>
                        <a:t>)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서버는 이메일과 비밀번호를 데이터베이스와 대조하여 사용자를 인증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인증이 성공하면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서버는 </a:t>
                      </a:r>
                      <a:r>
                        <a:rPr lang="en-US" altLang="ko-KR" sz="1000" dirty="0"/>
                        <a:t>JWT(JSON Web Token)</a:t>
                      </a:r>
                      <a:r>
                        <a:rPr lang="ko-KR" altLang="en-US" sz="1000" dirty="0"/>
                        <a:t>를 생성하여 클라이언트에 전달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이 토큰은 사용자가 </a:t>
                      </a:r>
                      <a:r>
                        <a:rPr lang="ko-KR" altLang="en-US" sz="1000" dirty="0" err="1"/>
                        <a:t>로그인된</a:t>
                      </a:r>
                      <a:r>
                        <a:rPr lang="ko-KR" altLang="en-US" sz="1000" dirty="0"/>
                        <a:t> 상태를 유지하는 데 사용</a:t>
                      </a:r>
                      <a:endParaRPr lang="en-US" altLang="ko-KR" sz="100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1793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0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로그인 후 처리</a:t>
                      </a:r>
                      <a:endParaRPr lang="en-US" altLang="ko-KR" sz="1000" dirty="0"/>
                    </a:p>
                    <a:p>
                      <a:r>
                        <a:rPr lang="ko-KR" altLang="en-US" sz="1000" b="1" dirty="0"/>
                        <a:t>사용자 세션 유지</a:t>
                      </a:r>
                      <a:endParaRPr lang="en-US" altLang="ko-KR" sz="1000" dirty="0"/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로그인에 성공하면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서버는 </a:t>
                      </a:r>
                      <a:r>
                        <a:rPr lang="en-US" altLang="ko-KR" sz="1000" dirty="0"/>
                        <a:t>JWT</a:t>
                      </a:r>
                      <a:r>
                        <a:rPr lang="ko-KR" altLang="en-US" sz="1000" dirty="0"/>
                        <a:t>를 클라이언트에 반환</a:t>
                      </a:r>
                      <a:endParaRPr lang="en-US" altLang="ko-KR" sz="1000" dirty="0"/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클라이언트는 이 </a:t>
                      </a:r>
                      <a:r>
                        <a:rPr lang="en-US" altLang="ko-KR" sz="1000" dirty="0"/>
                        <a:t>JWT</a:t>
                      </a:r>
                      <a:r>
                        <a:rPr lang="ko-KR" altLang="en-US" sz="1000" dirty="0"/>
                        <a:t>를 로컬 저장소 저장하여 사용자가 페이지를 이동하더라도 로그인 상태가 유지</a:t>
                      </a:r>
                      <a:endParaRPr lang="en-US" altLang="ko-KR" sz="1000" dirty="0"/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 err="1"/>
                        <a:t>리다이렉션</a:t>
                      </a:r>
                      <a:endParaRPr lang="en-US" altLang="ko-KR" sz="1000" b="1" dirty="0"/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로그인 성공 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사용자는 마이페이지로 자동 </a:t>
                      </a:r>
                      <a:r>
                        <a:rPr lang="ko-KR" altLang="en-US" sz="1000" dirty="0" err="1"/>
                        <a:t>리다이렉트</a:t>
                      </a:r>
                      <a:endParaRPr lang="en-US" altLang="ko-KR" sz="100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3341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0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/>
                        <a:t>추가 기능</a:t>
                      </a:r>
                      <a:endParaRPr lang="en-US" altLang="ko-KR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서버는 </a:t>
                      </a:r>
                      <a:r>
                        <a:rPr lang="en-US" altLang="ko-KR" sz="1000" dirty="0"/>
                        <a:t>OAuth2</a:t>
                      </a:r>
                      <a:r>
                        <a:rPr lang="ko-KR" altLang="en-US" sz="1000" dirty="0"/>
                        <a:t>를 통한 소셜 로그인도 지원하며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소셜 로그인 성공 시 </a:t>
                      </a:r>
                      <a:r>
                        <a:rPr lang="en-US" altLang="ko-KR" sz="1000" dirty="0"/>
                        <a:t>JWT</a:t>
                      </a:r>
                      <a:r>
                        <a:rPr lang="ko-KR" altLang="en-US" sz="1000" dirty="0"/>
                        <a:t>를 발급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오류 처리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서버는 잘못된 이메일 또는 비밀번호가 입력된 경우</a:t>
                      </a:r>
                      <a:r>
                        <a:rPr lang="en-US" altLang="ko-KR" sz="1000" dirty="0"/>
                        <a:t>, HTTP </a:t>
                      </a:r>
                      <a:r>
                        <a:rPr lang="ko-KR" altLang="en-US" sz="1000" dirty="0"/>
                        <a:t>상태 코드 </a:t>
                      </a:r>
                      <a:r>
                        <a:rPr lang="en-US" altLang="ko-KR" sz="1000" dirty="0"/>
                        <a:t>401(Unauthorized)</a:t>
                      </a:r>
                      <a:r>
                        <a:rPr lang="ko-KR" altLang="en-US" sz="1000" dirty="0"/>
                        <a:t>과 함께 로그인 실패 메시지를 반환</a:t>
                      </a:r>
                      <a:endParaRPr lang="en-US" altLang="ko-KR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또한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서버 오류나 기타 문제로 인해 로그인에 실패할 경우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적절한 오류 메시지를 클라이언트에 반환</a:t>
                      </a:r>
                      <a:endParaRPr lang="en-US" altLang="ko-KR" sz="100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249943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2499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 이메일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비밀번호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257753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000" dirty="0"/>
                        <a:t>로그인 성공 시 </a:t>
                      </a:r>
                      <a:r>
                        <a:rPr lang="en-US" altLang="ko-KR" sz="1000" dirty="0"/>
                        <a:t>JWT </a:t>
                      </a:r>
                      <a:r>
                        <a:rPr lang="ko-KR" altLang="en-US" sz="1000" dirty="0"/>
                        <a:t>토큰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로그인 실패 시 오류 메시지</a:t>
                      </a:r>
                      <a:endParaRPr lang="ko-Kore-KR" altLang="en-US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로그인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LoginForm-01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4" name="Picture 2" descr="LoginForm.png">
            <a:extLst>
              <a:ext uri="{FF2B5EF4-FFF2-40B4-BE49-F238E27FC236}">
                <a16:creationId xmlns:a16="http://schemas.microsoft.com/office/drawing/2014/main" id="{1D2FC15E-3F49-1BAD-358C-EACC31C7F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8"/>
            <a:ext cx="13113610" cy="957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35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회원가입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975010"/>
              </p:ext>
            </p:extLst>
          </p:nvPr>
        </p:nvGraphicFramePr>
        <p:xfrm>
          <a:off x="13444339" y="608730"/>
          <a:ext cx="4652751" cy="9572495"/>
        </p:xfrm>
        <a:graphic>
          <a:graphicData uri="http://schemas.openxmlformats.org/drawingml/2006/table">
            <a:tbl>
              <a:tblPr firstRow="1" bandRow="1"/>
              <a:tblGrid>
                <a:gridCol w="467315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467315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718121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287734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</a:t>
                      </a:r>
                      <a:r>
                        <a:rPr lang="en-US" altLang="ko-KR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SignUp</a:t>
                      </a:r>
                      <a:r>
                        <a:rPr lang="en-US" altLang="ko-KR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2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87734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25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279661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2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5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이메일 입력 필드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계정을 생성하기 위해 이메일 주소를 입력할 수 있는 필드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필수 입력 필드로 설정되어 있으며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유효성 검사를 통해 올바른 이메일 형식만 허용</a:t>
                      </a:r>
                      <a:endParaRPr lang="en-US" altLang="ko-KR" sz="1250" dirty="0"/>
                    </a:p>
                    <a:p>
                      <a:r>
                        <a:rPr lang="ko-KR" altLang="en-US" sz="1250" b="1" dirty="0"/>
                        <a:t>비밀번호 입력 필드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계정에 사용할 비밀번호를 입력할 수 있는 필드</a:t>
                      </a:r>
                      <a:r>
                        <a:rPr lang="en-US" altLang="ko-KR" sz="125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비밀번호는 필수 입력 항목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b="1" dirty="0"/>
                        <a:t>닉네임 입력 필드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계정에 사용할 닉네임을 입력할 수 있는 필드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필수 입력 항목으로 설정되어 있으며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닉네임은 계정의 식별자로 사용</a:t>
                      </a:r>
                      <a:endParaRPr lang="en-US" altLang="ko-KR" sz="125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25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회원가입 버튼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입력한 정보를 서버로 전송하여 회원가입 요청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버튼 클릭 시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데이터가 서버로 전송되며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요청이 처리되는 동안 로딩 상태가 표시되고 버튼이 비활성화</a:t>
                      </a:r>
                      <a:endParaRPr lang="en-US" altLang="ko-KR" sz="12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4807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로그인 페이지로 이동 버튼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사용자가 로그인 페이지로 이동</a:t>
                      </a:r>
                      <a:endParaRPr lang="en-US" altLang="ko-KR" sz="125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25268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2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5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입력 데이터 유효성 검사</a:t>
                      </a:r>
                      <a:endParaRPr lang="en-US" altLang="ko-KR" sz="12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서버는 클라이언트로부터 전송된 이메일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비밀번호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닉네임 등의 데이터를 수신하여 유효성 검사를 수행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이 과정에서 이메일 형식의 올바름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비밀번호의 보안 수준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닉네임의 중복 여부 등을 확인</a:t>
                      </a:r>
                      <a:endParaRPr lang="en-US" altLang="ko-KR" sz="1250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8667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사용자 정보 저장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모든 유효성 검사를 통과한 후</a:t>
                      </a:r>
                      <a:r>
                        <a:rPr lang="en-US" altLang="ko-KR" sz="1250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서버는 사용자의 이메일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암호화된 비밀번호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닉네임 등의 정보를 데이터베이스에 저장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252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1" dirty="0"/>
                        <a:t>오류 처리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서버는 입력된 데이터가 유효하지 않거나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중복된 이메일 또는 닉네임이 있을 경우</a:t>
                      </a:r>
                      <a:r>
                        <a:rPr lang="en-US" altLang="ko-KR" sz="1250" dirty="0"/>
                        <a:t>, HTTP </a:t>
                      </a:r>
                      <a:r>
                        <a:rPr lang="ko-KR" altLang="en-US" sz="1250" dirty="0"/>
                        <a:t>상태 코드와 함께 적절한 오류 메시지를 반환</a:t>
                      </a:r>
                      <a:endParaRPr lang="en-US" altLang="ko-KR" sz="12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50" dirty="0"/>
                        <a:t>클라이언트는 이 메시지를 받아 사용자에게 표시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287734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2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2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28773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12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1250" dirty="0"/>
                        <a:t>이메일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비밀번호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닉네임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519451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50" dirty="0"/>
                        <a:t>회원가입 성공 시 이메일 인증 요청 메시지</a:t>
                      </a:r>
                      <a:r>
                        <a:rPr lang="en-US" altLang="ko-KR" sz="1250" dirty="0"/>
                        <a:t>, </a:t>
                      </a:r>
                      <a:r>
                        <a:rPr lang="ko-KR" altLang="en-US" sz="1250" dirty="0"/>
                        <a:t>실패 시 오류 메시지</a:t>
                      </a:r>
                      <a:endParaRPr lang="ko-Kore-KR" altLang="en-US" sz="125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로그인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SignUpForm-01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4" name="Picture 2" descr="SignUpForm.png">
            <a:extLst>
              <a:ext uri="{FF2B5EF4-FFF2-40B4-BE49-F238E27FC236}">
                <a16:creationId xmlns:a16="http://schemas.microsoft.com/office/drawing/2014/main" id="{EE84E295-55BD-3DFF-975C-BC76395BC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9"/>
            <a:ext cx="13113610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63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아이디 찾기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736375"/>
              </p:ext>
            </p:extLst>
          </p:nvPr>
        </p:nvGraphicFramePr>
        <p:xfrm>
          <a:off x="13444339" y="608729"/>
          <a:ext cx="4652751" cy="9682419"/>
        </p:xfrm>
        <a:graphic>
          <a:graphicData uri="http://schemas.openxmlformats.org/drawingml/2006/table">
            <a:tbl>
              <a:tblPr firstRow="1" bandRow="1"/>
              <a:tblGrid>
                <a:gridCol w="467315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467315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718121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496593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아이디찾기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(Email Find)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설명</a:t>
                      </a:r>
                      <a:endParaRPr lang="ko-Kore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415633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40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120026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닉네임 입력 필드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사용자가 자신의 닉네임을 입력할 수 있는 필드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필수 입력 필드로 설정되어 있으며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닉네임을 통해 계정 정보를 확인</a:t>
                      </a:r>
                      <a:endParaRPr lang="en-US" altLang="ko-KR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8370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아이디 찾기 버튼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사용자가 입력한 닉네임을 서버로 전송하여 등록된 이메일 주소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아이디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찾는 요청</a:t>
                      </a:r>
                      <a:endParaRPr lang="en-US" altLang="ko-KR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8370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로그인 페이지로 이동 버튼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사용자가 아이디 찾기를 마친 후 로그인 페이지로 돌아갈 수 있도록 함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20026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입력 데이터 유효성 검사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서버는 클라이언트로부터 전송된 닉네임 데이터를 수신하여 유효성 검사를 수행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이 과정에서 입력된 정보가 올바르고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해당 정보가 데이터베이스에 존재하는지 확인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14209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사용자 이메일 조회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서버는 닉네임 정보를 바탕으로 데이터베이스에서 해당 사용자의 아이디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이메일 주소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조회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성공적으로 조회된 아이디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이메일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 주소는 클라이언트로 반환</a:t>
                      </a:r>
                      <a:endParaRPr lang="en-US" altLang="ko-KR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641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4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오류 처리</a:t>
                      </a:r>
                      <a:endParaRPr lang="en-US" altLang="ko-K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서버는 입력된 데이터가 유효하지 않거나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데이터베이스에 해당 정보로 등록된 이메일이 없을 경우</a:t>
                      </a:r>
                      <a:r>
                        <a:rPr lang="en-US" altLang="ko-KR" dirty="0"/>
                        <a:t>, HTTP </a:t>
                      </a:r>
                      <a:r>
                        <a:rPr lang="ko-KR" altLang="en-US" dirty="0"/>
                        <a:t>상태 코드와 함께 적절한 오류 메시지를 반환</a:t>
                      </a:r>
                      <a:endParaRPr lang="en-US" altLang="ko-K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클라이언트는 이 메시지를 받아 사용자에게 표시</a:t>
                      </a:r>
                      <a:endParaRPr lang="en-US" altLang="ko-KR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467587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5878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닉네임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467587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dirty="0"/>
                        <a:t>성공적으로 조회된 이메일 주소 또는 오류 메시지</a:t>
                      </a:r>
                      <a:endParaRPr lang="ko-Kore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로그인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EmailFind-01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3" name="Picture 2" descr="EmailFind.png">
            <a:extLst>
              <a:ext uri="{FF2B5EF4-FFF2-40B4-BE49-F238E27FC236}">
                <a16:creationId xmlns:a16="http://schemas.microsoft.com/office/drawing/2014/main" id="{622C8184-3627-A822-E008-30273FBDF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9"/>
            <a:ext cx="13113610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26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비밀번호 찾기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515200"/>
              </p:ext>
            </p:extLst>
          </p:nvPr>
        </p:nvGraphicFramePr>
        <p:xfrm>
          <a:off x="13444339" y="608735"/>
          <a:ext cx="4652751" cy="9572488"/>
        </p:xfrm>
        <a:graphic>
          <a:graphicData uri="http://schemas.openxmlformats.org/drawingml/2006/table">
            <a:tbl>
              <a:tblPr firstRow="1" bandRow="1"/>
              <a:tblGrid>
                <a:gridCol w="467315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467315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718121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0169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3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비밀번호찾기</a:t>
                      </a:r>
                      <a:r>
                        <a:rPr lang="en-US" altLang="ko-KR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3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PasswordFind</a:t>
                      </a:r>
                      <a:r>
                        <a:rPr lang="en-US" altLang="ko-KR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설명</a:t>
                      </a:r>
                      <a:endParaRPr lang="ko-Kore-KR" altLang="en-US" sz="13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30169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35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923922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3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3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5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이메일 입력 필드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사용자가 비밀번호를 재설정할 링크를 받을 이메일 주소를 입력할 수 있는 필드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필수 입력 필드로 설정</a:t>
                      </a:r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1429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비밀번호 찾기 버튼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사용자가 입력한 이메일을 서버로 전송하여 비밀번호 재설정 링크를 요청하는 버튼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요청이 성공하면 사용자는 해당 이메일로 비밀번호 재설정 링크를 받을 수 있다는 확인 메시지를 화면에서 확인</a:t>
                      </a:r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301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1237613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35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35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35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입력 데이터 유효성 검사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서버는 클라이언트로부터 전송된 이메일 데이터를 수신하여 유효성 검사를 수행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입력된 이메일이 유효한 형식인지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해당 이메일이 데이터베이스에 존재하는지 확인</a:t>
                      </a:r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25832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비밀번호 재설정 링크 생성 및 이메일 전송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서버는 유효한 이메일에 대해 비밀번호 재설정을 위한 토큰을 생성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이 토큰은 비밀번호 재설정 링크에 포함되어 사용자에게 전송</a:t>
                      </a:r>
                      <a:endParaRPr lang="en-US" altLang="ko-KR" sz="1350" dirty="0"/>
                    </a:p>
                    <a:p>
                      <a:r>
                        <a:rPr lang="ko-KR" altLang="en-US" sz="1350" b="1" dirty="0"/>
                        <a:t>토큰 관리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생성된 토큰은 일정 시간 동안 유효하며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사용자가 비밀번호를 재설정할 수 있는 권한을 부여</a:t>
                      </a:r>
                      <a:endParaRPr lang="en-US" altLang="ko-KR" sz="135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토큰이 만료되기 전에 사용자는 이메일에 포함된 링크를 통해 비밀번호 재설정 페이지로 접근</a:t>
                      </a:r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1338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35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35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1" dirty="0"/>
                        <a:t>오류 처리</a:t>
                      </a:r>
                      <a:endParaRPr lang="en-US" altLang="ko-KR" sz="135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서버는 입력된 이메일이 데이터베이스에 존재하지 않거나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이메일 전송에 실패한 경우 적절한 오류 메시지를 반환</a:t>
                      </a:r>
                      <a:r>
                        <a:rPr lang="en-US" altLang="ko-KR" sz="135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50" dirty="0"/>
                        <a:t>클라이언트는 이 메시지를 받아 사용자에게 표시</a:t>
                      </a:r>
                      <a:endParaRPr lang="en-US" altLang="ko-KR" sz="135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690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3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3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0169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5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13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1350" dirty="0"/>
                        <a:t>이메일 주소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3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350" dirty="0"/>
                        <a:t>비밀번호 재설정 링크 전송 성공 시 확인 메시지</a:t>
                      </a:r>
                      <a:r>
                        <a:rPr lang="en-US" altLang="ko-KR" sz="1350" dirty="0"/>
                        <a:t>, </a:t>
                      </a:r>
                      <a:r>
                        <a:rPr lang="ko-KR" altLang="en-US" sz="1350" dirty="0"/>
                        <a:t>실패 시 오류 메시지</a:t>
                      </a:r>
                      <a:endParaRPr lang="ko-Kore-KR" altLang="en-US" sz="135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로그인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PasswordFind-01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4" name="Picture 2" descr="PasswordFind.png">
            <a:extLst>
              <a:ext uri="{FF2B5EF4-FFF2-40B4-BE49-F238E27FC236}">
                <a16:creationId xmlns:a16="http://schemas.microsoft.com/office/drawing/2014/main" id="{7431C369-AEBB-6E43-C493-C1BE8AFCD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9"/>
            <a:ext cx="13113610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26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13365" y="105776"/>
            <a:ext cx="4788132" cy="35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비밀번호 변경 화면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619267"/>
              </p:ext>
            </p:extLst>
          </p:nvPr>
        </p:nvGraphicFramePr>
        <p:xfrm>
          <a:off x="13444339" y="608731"/>
          <a:ext cx="4652751" cy="9572496"/>
        </p:xfrm>
        <a:graphic>
          <a:graphicData uri="http://schemas.openxmlformats.org/drawingml/2006/table">
            <a:tbl>
              <a:tblPr firstRow="1" bandRow="1"/>
              <a:tblGrid>
                <a:gridCol w="467315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467315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3718121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291180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비밀번호재설정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PasswordReset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설명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9118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120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68679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새 비밀번호 입력 필드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사용자가 새로운 비밀번호를 입력할 수 있는 필드</a:t>
                      </a:r>
                      <a:r>
                        <a:rPr lang="en-US" altLang="ko-KR" sz="12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필수 입력 필드로 설정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686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비밀번호 재설정 버튼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사용자가 입력한 새 비밀번호를 서버로 전송하여 비밀번호 재설정 요청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14780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페이지 동작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이 페이지는 사용자가 이메일에서 받은 링크를 통해 </a:t>
                      </a:r>
                      <a:r>
                        <a:rPr lang="ko-KR" altLang="en-US" sz="1200" dirty="0" err="1"/>
                        <a:t>리다이렉트되어</a:t>
                      </a:r>
                      <a:r>
                        <a:rPr lang="ko-KR" altLang="en-US" sz="1200" dirty="0"/>
                        <a:t> 접근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해당 링크에는 비밀번호 재설정을 위한 토큰이 포함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이 토큰을 사용하여 서버에서 사용자의 요청을 인증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884601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입력 데이터 유효성 검사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서버는 클라이언트로부터 전송된 새 비밀번호 데이터를 수신하여 유효성 검사를 수행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비밀번호가 적절한 보안 기준을 충족하는지 확인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884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비밀번호 재설정 토큰 검증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사용자가 접근한 </a:t>
                      </a:r>
                      <a:r>
                        <a:rPr lang="en-US" altLang="ko-KR" sz="1200" dirty="0"/>
                        <a:t>URL</a:t>
                      </a:r>
                      <a:r>
                        <a:rPr lang="ko-KR" altLang="en-US" sz="1200" dirty="0"/>
                        <a:t>에 포함된 토큰을 서버에서 검증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토큰이 유효한 경우에만 비밀번호 재설정이 허용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32582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2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1200" b="0" dirty="0"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새 비밀번호 저장 및 처리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토큰 검증이 성공적으로 완료되면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서버는 새 비밀번호를 암호화하여 데이터베이스에 저장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이전 비밀번호는 더 이상 사용할 수 없도록 처리</a:t>
                      </a:r>
                      <a:endParaRPr lang="en-US" altLang="ko-KR" sz="1200" dirty="0"/>
                    </a:p>
                    <a:p>
                      <a:r>
                        <a:rPr lang="en-US" altLang="ko-KR" sz="1200" b="1" dirty="0"/>
                        <a:t>JWT </a:t>
                      </a:r>
                      <a:r>
                        <a:rPr lang="ko-KR" altLang="en-US" sz="1200" b="1" dirty="0"/>
                        <a:t>토큰 발급 및 로그아웃 처리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밀번호</a:t>
                      </a:r>
                      <a:r>
                        <a:rPr lang="ko-KR" altLang="en-US" sz="1200" dirty="0"/>
                        <a:t> 재설정이 완료된 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서버는 새로운 </a:t>
                      </a:r>
                      <a:r>
                        <a:rPr lang="en-US" altLang="ko-KR" sz="1200" dirty="0"/>
                        <a:t>JWT(JSON Web Token)</a:t>
                      </a:r>
                      <a:r>
                        <a:rPr lang="ko-KR" altLang="en-US" sz="1200" dirty="0"/>
                        <a:t>를 발급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클라이언트는 기존 </a:t>
                      </a:r>
                      <a:r>
                        <a:rPr lang="en-US" altLang="ko-KR" sz="1200" dirty="0"/>
                        <a:t>JWT </a:t>
                      </a:r>
                      <a:r>
                        <a:rPr lang="ko-KR" altLang="en-US" sz="1200" dirty="0"/>
                        <a:t>토큰을 삭제하고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사용자는 자동으로 로그아웃 처리된 후 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새로운 자격 증명으로 다시 로그인하여 새 </a:t>
                      </a:r>
                      <a:r>
                        <a:rPr lang="en-US" altLang="ko-KR" sz="1200" dirty="0"/>
                        <a:t>JWT</a:t>
                      </a:r>
                      <a:r>
                        <a:rPr lang="ko-KR" altLang="en-US" sz="1200" dirty="0"/>
                        <a:t>를 로컬 스토리지에 저장</a:t>
                      </a:r>
                      <a:endParaRPr lang="en-US" altLang="ko-KR" sz="1200" dirty="0"/>
                    </a:p>
                    <a:p>
                      <a:r>
                        <a:rPr lang="ko-KR" altLang="en-US" sz="1200" b="1" dirty="0"/>
                        <a:t>오류 처리</a:t>
                      </a:r>
                      <a:endParaRPr lang="en-US" altLang="ko-KR" sz="12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토큰이 만료되었거나 유효하지 않은 경우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서버는 </a:t>
                      </a:r>
                      <a:r>
                        <a:rPr lang="en-US" altLang="ko-KR" sz="1200" dirty="0"/>
                        <a:t>HTTP </a:t>
                      </a:r>
                      <a:r>
                        <a:rPr lang="ko-KR" altLang="en-US" sz="1200" dirty="0"/>
                        <a:t>상태 코드와 함께 적절한 오류 메시지를 반환</a:t>
                      </a:r>
                      <a:endParaRPr lang="en-US" altLang="ko-KR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클라이언트는 이 메시지를 받아 사용자에게 표시</a:t>
                      </a:r>
                      <a:endParaRPr lang="en-US" altLang="ko-KR" sz="1200" b="1" dirty="0"/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291180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2911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1200" dirty="0"/>
                        <a:t>새 비밀번호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52867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46760" marR="46760" marT="46760" marB="4676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1200" dirty="0"/>
                        <a:t>비밀번호 재설정 성공 시 새로운 </a:t>
                      </a:r>
                      <a:r>
                        <a:rPr lang="en-US" altLang="ko-KR" sz="1200" dirty="0"/>
                        <a:t>JWT </a:t>
                      </a:r>
                      <a:r>
                        <a:rPr lang="ko-KR" altLang="en-US" sz="1200" dirty="0"/>
                        <a:t>토큰 발급 및 로그아웃 처리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실패 시 오류 메시지</a:t>
                      </a:r>
                      <a:endParaRPr lang="ko-Kore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6760" marR="46760" marT="46760" marB="467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8656206" y="78202"/>
            <a:ext cx="4648314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500" dirty="0">
                <a:latin typeface="+mj-ea"/>
                <a:ea typeface="+mj-ea"/>
              </a:rPr>
              <a:t>로그인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5785870" y="105776"/>
            <a:ext cx="2311217" cy="356099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91440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PasswordReset-01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125CC-75DC-DADF-27DE-9D15483D2600}"/>
              </a:ext>
            </a:extLst>
          </p:cNvPr>
          <p:cNvSpPr txBox="1"/>
          <p:nvPr/>
        </p:nvSpPr>
        <p:spPr>
          <a:xfrm>
            <a:off x="4572000" y="498961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좋아요 수 및 조회수 정보</a:t>
            </a:r>
          </a:p>
        </p:txBody>
      </p:sp>
      <p:pic>
        <p:nvPicPr>
          <p:cNvPr id="3" name="Picture 2" descr="PasswordReset.png">
            <a:extLst>
              <a:ext uri="{FF2B5EF4-FFF2-40B4-BE49-F238E27FC236}">
                <a16:creationId xmlns:a16="http://schemas.microsoft.com/office/drawing/2014/main" id="{F8AB194B-70AD-5468-C31F-3EC341803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0" y="608729"/>
            <a:ext cx="13113610" cy="95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74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C022A468-6DB4-80E2-CAD7-014C4BDA21C8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REST API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 목록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4733012E-8DA4-F7ED-694F-28E87BE58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426962"/>
              </p:ext>
            </p:extLst>
          </p:nvPr>
        </p:nvGraphicFramePr>
        <p:xfrm>
          <a:off x="828583" y="2784763"/>
          <a:ext cx="16648927" cy="6733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102217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847110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/auth/signup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회원가입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SignUpForm-01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/auth/verify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회원가입 이메일 인증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SignUpForm-01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POST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/auth/find-</a:t>
                      </a:r>
                      <a:r>
                        <a:rPr lang="en-US" altLang="ko-KR" sz="2000" dirty="0" err="1"/>
                        <a:t>usernickname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아이디 찾기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EmailFind-01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POST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/auth/reset-password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비밀번호 재설정 링크 생성 요청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PasswordReset-01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POST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/auth/reset-password-form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비밀번호 재설정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PasswordFind-01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POST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en-US" altLang="ko-KR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api</a:t>
                      </a: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/login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로그인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LoginForm-01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/info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마이페이지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MyPage-01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/my-boards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내 게시글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MyPage-01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9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/my-comments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내 댓글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MyPage-01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/boards/public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모든 게시글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BoardForm-01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017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C022A468-6DB4-80E2-CAD7-014C4BDA21C8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REST API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 목록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4733012E-8DA4-F7ED-694F-28E87BE58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872398"/>
              </p:ext>
            </p:extLst>
          </p:nvPr>
        </p:nvGraphicFramePr>
        <p:xfrm>
          <a:off x="828583" y="2784763"/>
          <a:ext cx="16648927" cy="6733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185344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694218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3165765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특정 게시글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11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/boards/create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게시글 작성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PUT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게시글 수정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DELETE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게시글 삭제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POST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/boards/{id}/like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게시글 좋아요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15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/comments/public/board/{</a:t>
                      </a:r>
                      <a:r>
                        <a:rPr lang="en-US" altLang="ko-KR" sz="2000" dirty="0" err="1"/>
                        <a:t>boardId</a:t>
                      </a:r>
                      <a:r>
                        <a:rPr lang="en-US" altLang="ko-KR" sz="2000" dirty="0"/>
                        <a:t>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게시글의 모든 댓글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/comments/public/{id}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특정 댓글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17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POST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/comments/create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작성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18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PUT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수정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19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DELETE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삭제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39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C022A468-6DB4-80E2-CAD7-014C4BDA21C8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REST API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 목록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4733012E-8DA4-F7ED-694F-28E87BE58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25329"/>
              </p:ext>
            </p:extLst>
          </p:nvPr>
        </p:nvGraphicFramePr>
        <p:xfrm>
          <a:off x="828583" y="2784763"/>
          <a:ext cx="16648927" cy="6821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129926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289964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625437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POST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/comments/{id}/like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좋아요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BoardDetail-01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21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/images/{id}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게시글 이미지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22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/locations/all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모든 관광지 위치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TouristSpots-01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23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/locations/image/{id}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특정 관광지 위치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Map-01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699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24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transinfo</a:t>
                      </a:r>
                      <a:r>
                        <a:rPr lang="en-US" altLang="ko-KR" sz="2000" dirty="0"/>
                        <a:t>/all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대중교통 분류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Map-01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25</a:t>
                      </a:r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GET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tourtrans</a:t>
                      </a:r>
                      <a:r>
                        <a:rPr lang="en-US" altLang="ko-KR" sz="2000" dirty="0"/>
                        <a:t>/{</a:t>
                      </a:r>
                      <a:r>
                        <a:rPr lang="en-US" altLang="ko-KR" sz="2000" dirty="0" err="1"/>
                        <a:t>keyId</a:t>
                      </a:r>
                      <a:r>
                        <a:rPr lang="en-US" altLang="ko-KR" sz="2000" dirty="0"/>
                        <a:t>}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특정 관광지 대중교통 정보 조회</a:t>
                      </a: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dirty="0"/>
                        <a:t>Map-01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612119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9587" marR="149587" marT="74794" marB="74794"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372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C022A468-6DB4-80E2-CAD7-014C4BDA21C8}"/>
              </a:ext>
            </a:extLst>
          </p:cNvPr>
          <p:cNvSpPr txBox="1"/>
          <p:nvPr/>
        </p:nvSpPr>
        <p:spPr>
          <a:xfrm>
            <a:off x="544810" y="586759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REST API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상세 명세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EEC16D0B-5895-F583-C173-74C1B8348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393125"/>
              </p:ext>
            </p:extLst>
          </p:nvPr>
        </p:nvGraphicFramePr>
        <p:xfrm>
          <a:off x="819535" y="1962204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62415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630245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/auth//signup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회원가입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SignUpForm-01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E5BA0BA-02B0-4A10-96A7-4EC85FCEBF01}"/>
              </a:ext>
            </a:extLst>
          </p:cNvPr>
          <p:cNvGraphicFramePr>
            <a:graphicFrameLocks noGrp="1"/>
          </p:cNvGraphicFramePr>
          <p:nvPr/>
        </p:nvGraphicFramePr>
        <p:xfrm>
          <a:off x="819535" y="3326775"/>
          <a:ext cx="16648928" cy="2370291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396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54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7163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 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/auth/signup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200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fr-FR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{ "username": "string", </a:t>
                      </a:r>
                    </a:p>
                    <a:p>
                      <a:pPr latinLnBrk="1"/>
                      <a:r>
                        <a:rPr lang="en-US" altLang="ko-KR" sz="2000" dirty="0"/>
                        <a:t>"password": "string", </a:t>
                      </a:r>
                    </a:p>
                    <a:p>
                      <a:pPr latinLnBrk="1"/>
                      <a:r>
                        <a:rPr lang="en-US" altLang="ko-KR" sz="2000" dirty="0"/>
                        <a:t>"nickname": "string" }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1005161-505C-4609-ADD7-C759466D83BF}"/>
              </a:ext>
            </a:extLst>
          </p:cNvPr>
          <p:cNvGraphicFramePr>
            <a:graphicFrameLocks noGrp="1"/>
          </p:cNvGraphicFramePr>
          <p:nvPr/>
        </p:nvGraphicFramePr>
        <p:xfrm>
          <a:off x="819535" y="5887365"/>
          <a:ext cx="16648928" cy="3686062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483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614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823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2000" dirty="0"/>
                    </a:p>
                    <a:p>
                      <a:pPr algn="ctr" latinLnBrk="1"/>
                      <a:r>
                        <a:rPr lang="en-US" altLang="ko-KR" sz="2000" dirty="0"/>
                        <a:t>HTTP/1.1 201 Created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</a:p>
                    <a:p>
                      <a:pPr algn="ctr" latinLnBrk="1"/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 "id": 1,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"username": "admin@test.com",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"nickname": "Admin",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"enabled": false,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"role": "ROLE_MEMBER",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joinDate</a:t>
                      </a:r>
                      <a:r>
                        <a:rPr lang="en-US" altLang="ko-KR" sz="2000" b="0" dirty="0"/>
                        <a:t>": "2024-08-21T10:00:00"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8802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HTTP/1.1 409 Conflict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 "error": "</a:t>
                      </a:r>
                      <a:r>
                        <a:rPr lang="ko-KR" altLang="en-US" sz="2000" b="0" dirty="0"/>
                        <a:t>이미 사용 중인 사용자 이름입니다</a:t>
                      </a:r>
                      <a:r>
                        <a:rPr lang="en-US" altLang="ko-KR" sz="2000" b="0" dirty="0"/>
                        <a:t>."}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95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727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6"/>
          <a:ext cx="16648928" cy="3221867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3930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 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/auth/verify?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token=abc123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dirty="0"/>
                        <a:t>없음</a:t>
                      </a:r>
                      <a:r>
                        <a:rPr lang="ko-KR" altLang="en-US" sz="2000" u="none" strike="noStrike" dirty="0">
                          <a:effectLst/>
                        </a:rPr>
                        <a:t>　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6064584"/>
          <a:ext cx="16648928" cy="3221867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965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{ "message": "</a:t>
                      </a:r>
                      <a:r>
                        <a:rPr lang="ko-KR" altLang="en-US" sz="2000" dirty="0"/>
                        <a:t>이메일 인증이 성공적으로 완료되었습니다</a:t>
                      </a:r>
                      <a:r>
                        <a:rPr lang="en-US" altLang="ko-KR" sz="2000" dirty="0"/>
                        <a:t>." }</a:t>
                      </a:r>
                      <a:endParaRPr lang="en-US" altLang="ko-KR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196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HTTP/1.1 400 Bad Request 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 "error": "</a:t>
                      </a:r>
                      <a:r>
                        <a:rPr lang="ko-KR" altLang="en-US" sz="2000" b="0" dirty="0"/>
                        <a:t>유효하지 않거나</a:t>
                      </a:r>
                      <a:r>
                        <a:rPr lang="en-US" altLang="ko-KR" sz="2000" b="0" dirty="0"/>
                        <a:t>, </a:t>
                      </a:r>
                      <a:r>
                        <a:rPr lang="ko-KR" altLang="en-US" sz="2000" b="0" dirty="0"/>
                        <a:t>만료된 인증 토큰입니다</a:t>
                      </a:r>
                      <a:r>
                        <a:rPr lang="en-US" altLang="ko-KR" sz="2000" b="0" dirty="0"/>
                        <a:t>."}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14627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5EC310-F2E8-41C9-865C-DB2F2B2C1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224857"/>
              </p:ext>
            </p:extLst>
          </p:nvPr>
        </p:nvGraphicFramePr>
        <p:xfrm>
          <a:off x="819534" y="1000549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3702029537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3233980850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1485410126"/>
                    </a:ext>
                  </a:extLst>
                </a:gridCol>
                <a:gridCol w="5651862">
                  <a:extLst>
                    <a:ext uri="{9D8B030D-6E8A-4147-A177-3AD203B41FA5}">
                      <a16:colId xmlns:a16="http://schemas.microsoft.com/office/drawing/2014/main" val="2272857776"/>
                    </a:ext>
                  </a:extLst>
                </a:gridCol>
                <a:gridCol w="2602535">
                  <a:extLst>
                    <a:ext uri="{9D8B030D-6E8A-4147-A177-3AD203B41FA5}">
                      <a16:colId xmlns:a16="http://schemas.microsoft.com/office/drawing/2014/main" val="861811755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99756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/auth/verify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회원가입 이메일 인증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SignUpForm-01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135362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413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6"/>
          <a:ext cx="16648928" cy="3221867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3930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/auth/find-</a:t>
                      </a:r>
                      <a:r>
                        <a:rPr lang="en-US" altLang="ko-KR" sz="2000" dirty="0" err="1"/>
                        <a:t>usernickname</a:t>
                      </a:r>
                      <a:r>
                        <a:rPr lang="en-US" altLang="ko-KR" sz="2000" dirty="0"/>
                        <a:t> 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200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fr-FR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dirty="0"/>
                        <a:t>{ "nickname": "string"}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6064584"/>
          <a:ext cx="16648928" cy="328631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965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{</a:t>
                      </a:r>
                    </a:p>
                    <a:p>
                      <a:pPr latinLnBrk="1"/>
                      <a:r>
                        <a:rPr lang="en-US" altLang="ko-KR" sz="2000" dirty="0"/>
                        <a:t>  "username": "found_username@test.com"</a:t>
                      </a:r>
                    </a:p>
                    <a:p>
                      <a:pPr latinLnBrk="1"/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196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HTTP/1.1 404 Not Found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해당 이메일과 닉네임으로 등록된 계정을 찾을 수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14627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5EC310-F2E8-41C9-865C-DB2F2B2C1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189539"/>
              </p:ext>
            </p:extLst>
          </p:nvPr>
        </p:nvGraphicFramePr>
        <p:xfrm>
          <a:off x="819534" y="1000549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3702029537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3233980850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1485410126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2272857776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861811755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99756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/auth/find-</a:t>
                      </a:r>
                      <a:r>
                        <a:rPr lang="en-US" altLang="ko-KR" sz="2000" dirty="0" err="1"/>
                        <a:t>usernickname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닉네임으로 아이디 찾기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EmailFind-01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135362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489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6"/>
          <a:ext cx="16648928" cy="3221867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3930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/auth/reset-password 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200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fr-FR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dirty="0"/>
                        <a:t>{</a:t>
                      </a:r>
                    </a:p>
                    <a:p>
                      <a:pPr algn="l" fontAlgn="ctr"/>
                      <a:r>
                        <a:rPr lang="en-US" altLang="ko-KR" sz="2000" dirty="0"/>
                        <a:t>  "username": "string"</a:t>
                      </a:r>
                    </a:p>
                    <a:p>
                      <a:pPr algn="l" fontAlgn="ctr"/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6064584"/>
          <a:ext cx="16648928" cy="328631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965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{</a:t>
                      </a:r>
                    </a:p>
                    <a:p>
                      <a:pPr latinLnBrk="1"/>
                      <a:r>
                        <a:rPr lang="en-US" altLang="ko-KR" sz="2000" dirty="0"/>
                        <a:t>  "message": "</a:t>
                      </a:r>
                      <a:r>
                        <a:rPr lang="ko-KR" altLang="en-US" sz="2000" dirty="0"/>
                        <a:t>비밀번호 재설정 링크가 전송되었습니다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pPr latinLnBrk="1"/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196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HTTP/1.1 404 Not Found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해당 이메일 주소로 등록된 계정을 찾을 수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14627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5EC310-F2E8-41C9-865C-DB2F2B2C1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91286"/>
              </p:ext>
            </p:extLst>
          </p:nvPr>
        </p:nvGraphicFramePr>
        <p:xfrm>
          <a:off x="819534" y="1000549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3702029537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3233980850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1485410126"/>
                    </a:ext>
                  </a:extLst>
                </a:gridCol>
                <a:gridCol w="5665717">
                  <a:extLst>
                    <a:ext uri="{9D8B030D-6E8A-4147-A177-3AD203B41FA5}">
                      <a16:colId xmlns:a16="http://schemas.microsoft.com/office/drawing/2014/main" val="2272857776"/>
                    </a:ext>
                  </a:extLst>
                </a:gridCol>
                <a:gridCol w="2588680">
                  <a:extLst>
                    <a:ext uri="{9D8B030D-6E8A-4147-A177-3AD203B41FA5}">
                      <a16:colId xmlns:a16="http://schemas.microsoft.com/office/drawing/2014/main" val="861811755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99756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/auth/reset-password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비밀번호 재설정 링크 요청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PasswordReset-01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135362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340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6"/>
          <a:ext cx="16648928" cy="3221867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3930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/auth/reset-password-form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200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fr-FR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dirty="0"/>
                        <a:t>{</a:t>
                      </a:r>
                    </a:p>
                    <a:p>
                      <a:pPr algn="l" fontAlgn="ctr"/>
                      <a:r>
                        <a:rPr lang="en-US" altLang="ko-KR" sz="2000" dirty="0"/>
                        <a:t>  "token": "string",</a:t>
                      </a:r>
                    </a:p>
                    <a:p>
                      <a:pPr algn="l" fontAlgn="ctr"/>
                      <a:r>
                        <a:rPr lang="en-US" altLang="ko-KR" sz="2000" dirty="0"/>
                        <a:t>  "</a:t>
                      </a:r>
                      <a:r>
                        <a:rPr lang="en-US" altLang="ko-KR" sz="2000" dirty="0" err="1"/>
                        <a:t>newPassword</a:t>
                      </a:r>
                      <a:r>
                        <a:rPr lang="en-US" altLang="ko-KR" sz="2000" dirty="0"/>
                        <a:t>": "string"</a:t>
                      </a:r>
                    </a:p>
                    <a:p>
                      <a:pPr algn="l" fontAlgn="ctr"/>
                      <a:r>
                        <a:rPr lang="en-US" altLang="ko-KR" sz="2000" dirty="0"/>
                        <a:t>}</a:t>
                      </a:r>
                    </a:p>
                    <a:p>
                      <a:pPr algn="l" fontAlgn="ctr"/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6064584"/>
          <a:ext cx="16648928" cy="359111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965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application/json</a:t>
                      </a:r>
                    </a:p>
                    <a:p>
                      <a:pPr algn="ctr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new_jwt_token</a:t>
                      </a:r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{</a:t>
                      </a:r>
                    </a:p>
                    <a:p>
                      <a:pPr latinLnBrk="1"/>
                      <a:r>
                        <a:rPr lang="en-US" altLang="ko-KR" sz="2000" dirty="0"/>
                        <a:t>  "message": "</a:t>
                      </a:r>
                      <a:r>
                        <a:rPr lang="ko-KR" altLang="en-US" sz="2000" dirty="0"/>
                        <a:t>비밀번호가 성공적으로 재설정되었으며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새로운 토큰이 생성되었습니다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pPr latinLnBrk="1"/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196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HTTP/1.1 400 Bad Request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유효하지 않거나 만료된 토큰입니다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14627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5EC310-F2E8-41C9-865C-DB2F2B2C1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035397"/>
              </p:ext>
            </p:extLst>
          </p:nvPr>
        </p:nvGraphicFramePr>
        <p:xfrm>
          <a:off x="819534" y="1000549"/>
          <a:ext cx="16635432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71">
                  <a:extLst>
                    <a:ext uri="{9D8B030D-6E8A-4147-A177-3AD203B41FA5}">
                      <a16:colId xmlns:a16="http://schemas.microsoft.com/office/drawing/2014/main" val="3702029537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3233980850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1485410126"/>
                    </a:ext>
                  </a:extLst>
                </a:gridCol>
                <a:gridCol w="5790049">
                  <a:extLst>
                    <a:ext uri="{9D8B030D-6E8A-4147-A177-3AD203B41FA5}">
                      <a16:colId xmlns:a16="http://schemas.microsoft.com/office/drawing/2014/main" val="2272857776"/>
                    </a:ext>
                  </a:extLst>
                </a:gridCol>
                <a:gridCol w="2464348">
                  <a:extLst>
                    <a:ext uri="{9D8B030D-6E8A-4147-A177-3AD203B41FA5}">
                      <a16:colId xmlns:a16="http://schemas.microsoft.com/office/drawing/2014/main" val="861811755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99756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/auth/reset-password-form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비밀번호 재설정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PasswordFind-01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135362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920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7"/>
          <a:ext cx="16648928" cy="2475999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570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679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8045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/>
                        <a:t>POST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/</a:t>
                      </a:r>
                      <a:r>
                        <a:rPr lang="en-US" altLang="ko-KR" sz="2000" b="0" dirty="0" err="1"/>
                        <a:t>api</a:t>
                      </a:r>
                      <a:r>
                        <a:rPr lang="en-US" altLang="ko-KR" sz="2000" b="0" dirty="0"/>
                        <a:t>/login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2000" b="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fr-FR" altLang="ko-KR" sz="2000" b="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{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"username": "string",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"password": "string"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5143499"/>
          <a:ext cx="16648928" cy="4200716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5335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 시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"id": 1,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"username": "admin@test.com",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"nickname": "Admin",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"token": "</a:t>
                      </a:r>
                      <a:r>
                        <a:rPr lang="en-US" altLang="ko-KR" sz="2000" b="0" dirty="0" err="1"/>
                        <a:t>jwt_token</a:t>
                      </a:r>
                      <a:r>
                        <a:rPr lang="en-US" altLang="ko-KR" sz="2000" b="0" dirty="0"/>
                        <a:t>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766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HTTP/1.1 401 Unauthorized (</a:t>
                      </a:r>
                      <a:r>
                        <a:rPr lang="ko-KR" altLang="en-US" sz="2000" dirty="0"/>
                        <a:t>실패 시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 "error": "</a:t>
                      </a:r>
                      <a:r>
                        <a:rPr lang="ko-KR" altLang="en-US" sz="2000" b="0" dirty="0"/>
                        <a:t>이메일 인증 절차를 진행하십시오</a:t>
                      </a:r>
                      <a:r>
                        <a:rPr lang="en-US" altLang="ko-KR" sz="2000" b="0" dirty="0"/>
                        <a:t>."}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56665"/>
                  </a:ext>
                </a:extLst>
              </a:tr>
              <a:tr h="766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{"error": "</a:t>
                      </a:r>
                      <a:r>
                        <a:rPr lang="ko-KR" altLang="en-US" sz="2000" b="0" dirty="0"/>
                        <a:t>로그인 실패</a:t>
                      </a:r>
                      <a:r>
                        <a:rPr lang="en-US" altLang="ko-KR" sz="2000" b="0" dirty="0"/>
                        <a:t>"}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66204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01B8F36-ABF0-4A80-9D79-FE2301875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563139"/>
              </p:ext>
            </p:extLst>
          </p:nvPr>
        </p:nvGraphicFramePr>
        <p:xfrm>
          <a:off x="807800" y="996935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/login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로그인 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LoginForm-01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920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6"/>
          <a:ext cx="16648928" cy="3221867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3930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/info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r>
                        <a:rPr lang="ko-KR" altLang="en-US" sz="2000" u="none" strike="noStrike" dirty="0">
                          <a:effectLst/>
                        </a:rPr>
                        <a:t>　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6064584"/>
          <a:ext cx="16648928" cy="3254091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965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"username": "admin@test.com",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"nickname": "Admin"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196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HTTP/1.1 401 Unauthorized 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인증이 필요합니다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575342"/>
                  </a:ext>
                </a:extLst>
              </a:tr>
            </a:tbl>
          </a:graphicData>
        </a:graphic>
      </p:graphicFrame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7AB799EA-BAFB-4DDD-AAEF-BFEAFD52F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09812"/>
              </p:ext>
            </p:extLst>
          </p:nvPr>
        </p:nvGraphicFramePr>
        <p:xfrm>
          <a:off x="807800" y="996935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/info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내 정보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MyPage-01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2140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226474"/>
          <a:ext cx="16648928" cy="1943080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600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175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3144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/my-boards 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376690"/>
          <a:ext cx="16648928" cy="5224509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5800905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5377023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812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611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31660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[ { "id": 1,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"title": "First Board",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"content": "Content of the first board",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viewCount</a:t>
                      </a:r>
                      <a:r>
                        <a:rPr lang="en-US" altLang="ko-KR" sz="2000" b="0" dirty="0"/>
                        <a:t>": 10,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likeCount</a:t>
                      </a:r>
                      <a:r>
                        <a:rPr lang="en-US" altLang="ko-KR" sz="2000" b="0" dirty="0"/>
                        <a:t>": 5,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"images": [ { "id": 1,"filename": "image1.png",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    "</a:t>
                      </a:r>
                      <a:r>
                        <a:rPr lang="en-US" altLang="ko-KR" sz="2000" b="0" dirty="0" err="1"/>
                        <a:t>mimeType</a:t>
                      </a:r>
                      <a:r>
                        <a:rPr lang="en-US" altLang="ko-KR" sz="2000" b="0" dirty="0"/>
                        <a:t>": "image/</a:t>
                      </a:r>
                      <a:r>
                        <a:rPr lang="en-US" altLang="ko-KR" sz="2000" b="0" dirty="0" err="1"/>
                        <a:t>png</a:t>
                      </a:r>
                      <a:r>
                        <a:rPr lang="en-US" altLang="ko-KR" sz="2000" b="0" dirty="0"/>
                        <a:t>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    "</a:t>
                      </a:r>
                      <a:r>
                        <a:rPr lang="en-US" altLang="ko-KR" sz="2000" b="0" dirty="0" err="1"/>
                        <a:t>url</a:t>
                      </a:r>
                      <a:r>
                        <a:rPr lang="en-US" altLang="ko-KR" sz="2000" b="0" dirty="0"/>
                        <a:t>": "/</a:t>
                      </a:r>
                      <a:r>
                        <a:rPr lang="en-US" altLang="ko-KR" sz="2000" b="0" dirty="0" err="1"/>
                        <a:t>api</a:t>
                      </a:r>
                      <a:r>
                        <a:rPr lang="en-US" altLang="ko-KR" sz="2000" b="0" dirty="0"/>
                        <a:t>/images/1"}]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}]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2160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HTTP/1.1 401 Unauthorized</a:t>
                      </a:r>
                      <a:endParaRPr lang="en-US" altLang="ko-KR" sz="2000" b="0" dirty="0"/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인증이 필요합니다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433219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238925"/>
              </p:ext>
            </p:extLst>
          </p:nvPr>
        </p:nvGraphicFramePr>
        <p:xfrm>
          <a:off x="807800" y="996935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/my-boards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내 게시글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MyPage-01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650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6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/my-comments 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421447"/>
          <a:ext cx="16648928" cy="497963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559666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558126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5309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984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90715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[ 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"id": 1,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"content": "This is a comment",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likeCount</a:t>
                      </a:r>
                      <a:r>
                        <a:rPr lang="en-US" altLang="ko-KR" sz="2000" b="0" dirty="0"/>
                        <a:t>": 3,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createdDate</a:t>
                      </a:r>
                      <a:r>
                        <a:rPr lang="en-US" altLang="ko-KR" sz="2000" b="0" dirty="0"/>
                        <a:t>": "2024-08-21T10:00:00"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} ]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9071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HTTP/1.1 401 Unauthorized</a:t>
                      </a:r>
                      <a:endParaRPr lang="en-US" altLang="ko-KR" sz="2000" b="0" dirty="0"/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인증이 필요합니다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596097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83973"/>
              </p:ext>
            </p:extLst>
          </p:nvPr>
        </p:nvGraphicFramePr>
        <p:xfrm>
          <a:off x="807800" y="996935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9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mypage</a:t>
                      </a:r>
                      <a:r>
                        <a:rPr lang="en-US" altLang="ko-KR" sz="2000" dirty="0"/>
                        <a:t>/my-comments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내 댓글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MyPage-01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467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113410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 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/boards/public 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469744"/>
          <a:ext cx="16648928" cy="4743663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559666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558126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5309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984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38143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[[ { "id": 1,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"title": "First Board",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"content": "Content of the first board",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viewCount</a:t>
                      </a:r>
                      <a:r>
                        <a:rPr lang="en-US" altLang="ko-KR" sz="2000" b="0" dirty="0"/>
                        <a:t>": 10,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likeCount</a:t>
                      </a:r>
                      <a:r>
                        <a:rPr lang="en-US" altLang="ko-KR" sz="2000" b="0" dirty="0"/>
                        <a:t>": 5,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"images": [ { "id": 1,"filename": "image1.png",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    "</a:t>
                      </a:r>
                      <a:r>
                        <a:rPr lang="en-US" altLang="ko-KR" sz="2000" b="0" dirty="0" err="1"/>
                        <a:t>mimeType</a:t>
                      </a:r>
                      <a:r>
                        <a:rPr lang="en-US" altLang="ko-KR" sz="2000" b="0" dirty="0"/>
                        <a:t>": "image/</a:t>
                      </a:r>
                      <a:r>
                        <a:rPr lang="en-US" altLang="ko-KR" sz="2000" b="0" dirty="0" err="1"/>
                        <a:t>png</a:t>
                      </a:r>
                      <a:r>
                        <a:rPr lang="en-US" altLang="ko-KR" sz="2000" b="0" dirty="0"/>
                        <a:t>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    "</a:t>
                      </a:r>
                      <a:r>
                        <a:rPr lang="en-US" altLang="ko-KR" sz="2000" b="0" dirty="0" err="1"/>
                        <a:t>url</a:t>
                      </a:r>
                      <a:r>
                        <a:rPr lang="en-US" altLang="ko-KR" sz="2000" b="0" dirty="0"/>
                        <a:t>": "/</a:t>
                      </a:r>
                      <a:r>
                        <a:rPr lang="en-US" altLang="ko-KR" sz="2000" b="0" dirty="0" err="1"/>
                        <a:t>api</a:t>
                      </a:r>
                      <a:r>
                        <a:rPr lang="en-US" altLang="ko-KR" sz="2000" b="0" dirty="0"/>
                        <a:t>/images/1"}]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}]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496653"/>
              </p:ext>
            </p:extLst>
          </p:nvPr>
        </p:nvGraphicFramePr>
        <p:xfrm>
          <a:off x="819534" y="778075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84582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408571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/boards/public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전체 게시글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BoardForm-01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63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127194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 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223967"/>
          <a:ext cx="16648928" cy="5425736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50432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61347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730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730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77302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HTTP/1.1 200 OK</a:t>
                      </a:r>
                      <a:endParaRPr lang="ko-KR" altLang="en-US" sz="2000" b="0" dirty="0"/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 "id": 1,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"title": "First Board",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"content": "Content of the first board",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viewCount</a:t>
                      </a:r>
                      <a:r>
                        <a:rPr lang="en-US" altLang="ko-KR" sz="2000" b="0" dirty="0"/>
                        <a:t>": 11,  // </a:t>
                      </a:r>
                      <a:r>
                        <a:rPr lang="ko-KR" altLang="en-US" sz="2000" b="0" dirty="0"/>
                        <a:t>조회수 증가</a:t>
                      </a:r>
                    </a:p>
                    <a:p>
                      <a:pPr algn="l" latinLnBrk="1"/>
                      <a:r>
                        <a:rPr lang="ko-KR" altLang="en-US" sz="2000" b="0" dirty="0"/>
                        <a:t>  </a:t>
                      </a:r>
                      <a:r>
                        <a:rPr lang="en-US" altLang="ko-KR" sz="2000" b="0" dirty="0"/>
                        <a:t>"</a:t>
                      </a:r>
                      <a:r>
                        <a:rPr lang="en-US" altLang="ko-KR" sz="2000" b="0" dirty="0" err="1"/>
                        <a:t>likeCount</a:t>
                      </a:r>
                      <a:r>
                        <a:rPr lang="en-US" altLang="ko-KR" sz="2000" b="0" dirty="0"/>
                        <a:t>": 5,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"images": [ {  "id": 1,  "filename": "image1.png",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  "</a:t>
                      </a:r>
                      <a:r>
                        <a:rPr lang="en-US" altLang="ko-KR" sz="2000" b="0" dirty="0" err="1"/>
                        <a:t>mimeType</a:t>
                      </a:r>
                      <a:r>
                        <a:rPr lang="en-US" altLang="ko-KR" sz="2000" b="0" dirty="0"/>
                        <a:t>": "image/</a:t>
                      </a:r>
                      <a:r>
                        <a:rPr lang="en-US" altLang="ko-KR" sz="2000" b="0" dirty="0" err="1"/>
                        <a:t>png</a:t>
                      </a:r>
                      <a:r>
                        <a:rPr lang="en-US" altLang="ko-KR" sz="2000" b="0" dirty="0"/>
                        <a:t>",  "</a:t>
                      </a:r>
                      <a:r>
                        <a:rPr lang="en-US" altLang="ko-KR" sz="2000" b="0" dirty="0" err="1"/>
                        <a:t>url</a:t>
                      </a:r>
                      <a:r>
                        <a:rPr lang="en-US" altLang="ko-KR" sz="2000" b="0" dirty="0"/>
                        <a:t>": "/</a:t>
                      </a:r>
                      <a:r>
                        <a:rPr lang="en-US" altLang="ko-KR" sz="2000" b="0" dirty="0" err="1"/>
                        <a:t>api</a:t>
                      </a:r>
                      <a:r>
                        <a:rPr lang="en-US" altLang="ko-KR" sz="2000" b="0" dirty="0"/>
                        <a:t>/images/1"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} ]  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9066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HTTP/1.1 404 Not Found</a:t>
                      </a:r>
                      <a:endParaRPr lang="en-US" altLang="ko-KR" sz="2000" b="0" dirty="0"/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게시글을 찾을 수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96463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95601"/>
              </p:ext>
            </p:extLst>
          </p:nvPr>
        </p:nvGraphicFramePr>
        <p:xfrm>
          <a:off x="819533" y="758639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956663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29773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특정 게시글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062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084994"/>
          <a:ext cx="16648928" cy="2142896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735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r>
                        <a:rPr lang="en-US" altLang="ko-KR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`1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3140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POST</a:t>
                      </a:r>
                    </a:p>
                    <a:p>
                      <a:pPr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/boards/create</a:t>
                      </a:r>
                    </a:p>
                    <a:p>
                      <a:pPr latinLnBrk="1"/>
                      <a:r>
                        <a:rPr lang="en-US" altLang="ko-KR" sz="2000" dirty="0"/>
                        <a:t>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Content-Type: multipart/form-data</a:t>
                      </a:r>
                    </a:p>
                    <a:p>
                      <a:pPr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multipart/form-data</a:t>
                      </a:r>
                      <a:r>
                        <a:rPr lang="ko-KR" altLang="en-US" sz="2000" dirty="0"/>
                        <a:t>로 </a:t>
                      </a:r>
                      <a:endParaRPr lang="en-US" altLang="ko-KR" sz="2000" dirty="0"/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게시글 정보 및 이미지 전송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448178"/>
          <a:ext cx="16648928" cy="521415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4261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198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303649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HTTP/1.1 201 Created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{"id": 1,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"title": "First Board",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"content": "Content of the first board",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viewCount</a:t>
                      </a:r>
                      <a:r>
                        <a:rPr lang="en-US" altLang="ko-KR" sz="2000" b="0" dirty="0"/>
                        <a:t>": 0,"likeCount": 0,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"images": [ {   "id": 1,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    "filename": "image1.png",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    "</a:t>
                      </a:r>
                      <a:r>
                        <a:rPr lang="en-US" altLang="ko-KR" sz="2000" b="0" dirty="0" err="1"/>
                        <a:t>mimeType</a:t>
                      </a:r>
                      <a:r>
                        <a:rPr lang="en-US" altLang="ko-KR" sz="2000" b="0" dirty="0"/>
                        <a:t>": "image/</a:t>
                      </a:r>
                      <a:r>
                        <a:rPr lang="en-US" altLang="ko-KR" sz="2000" b="0" dirty="0" err="1"/>
                        <a:t>png</a:t>
                      </a:r>
                      <a:r>
                        <a:rPr lang="en-US" altLang="ko-KR" sz="2000" b="0" dirty="0"/>
                        <a:t>",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    "</a:t>
                      </a:r>
                      <a:r>
                        <a:rPr lang="en-US" altLang="ko-KR" sz="2000" b="0" dirty="0" err="1"/>
                        <a:t>url</a:t>
                      </a:r>
                      <a:r>
                        <a:rPr lang="en-US" altLang="ko-KR" sz="2000" b="0" dirty="0"/>
                        <a:t>": "/</a:t>
                      </a:r>
                      <a:r>
                        <a:rPr lang="en-US" altLang="ko-KR" sz="2000" b="0" dirty="0" err="1"/>
                        <a:t>api</a:t>
                      </a:r>
                      <a:r>
                        <a:rPr lang="en-US" altLang="ko-KR" sz="2000" b="0" dirty="0"/>
                        <a:t>/images/1"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  } ] 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105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HTTP/1.1 401 Unauthorized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인증이 필요합니다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681857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72146"/>
              </p:ext>
            </p:extLst>
          </p:nvPr>
        </p:nvGraphicFramePr>
        <p:xfrm>
          <a:off x="819534" y="704564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901244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353153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/boards/create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게시글 작성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139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129663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PUT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 </a:t>
                      </a:r>
                    </a:p>
                    <a:p>
                      <a:pPr algn="ctr"/>
                      <a:r>
                        <a:rPr lang="en-US" altLang="ko-KR" sz="2000" dirty="0"/>
                        <a:t>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multipart/form-data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multipart/form-data</a:t>
                      </a:r>
                      <a:r>
                        <a:rPr lang="ko-KR" altLang="en-US" sz="2000" dirty="0"/>
                        <a:t>로 </a:t>
                      </a:r>
                      <a:endParaRPr lang="en-US" altLang="ko-KR" sz="2000" dirty="0"/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수정된 게시글 정보 및 이미지 전송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4072422"/>
          <a:ext cx="16648928" cy="5779203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965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965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93459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 "id": 1, "title": "Updated Board", "content": "Updated content",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"Admin","</a:t>
                      </a:r>
                      <a:r>
                        <a:rPr lang="en-US" altLang="ko-KR" sz="2000" b="0" dirty="0" err="1"/>
                        <a:t>viewCount</a:t>
                      </a:r>
                      <a:r>
                        <a:rPr lang="en-US" altLang="ko-KR" sz="2000" b="0" dirty="0"/>
                        <a:t>": 11, "</a:t>
                      </a:r>
                      <a:r>
                        <a:rPr lang="en-US" altLang="ko-KR" sz="2000" b="0" dirty="0" err="1"/>
                        <a:t>likeCount</a:t>
                      </a:r>
                      <a:r>
                        <a:rPr lang="en-US" altLang="ko-KR" sz="2000" b="0" dirty="0"/>
                        <a:t>": 5,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"images": [ { "id": 2, "filename": "image2.png",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  "</a:t>
                      </a:r>
                      <a:r>
                        <a:rPr lang="en-US" altLang="ko-KR" sz="2000" b="0" dirty="0" err="1"/>
                        <a:t>mimeType</a:t>
                      </a:r>
                      <a:r>
                        <a:rPr lang="en-US" altLang="ko-KR" sz="2000" b="0" dirty="0"/>
                        <a:t>": "image/</a:t>
                      </a:r>
                      <a:r>
                        <a:rPr lang="en-US" altLang="ko-KR" sz="2000" b="0" dirty="0" err="1"/>
                        <a:t>png</a:t>
                      </a:r>
                      <a:r>
                        <a:rPr lang="en-US" altLang="ko-KR" sz="2000" b="0" dirty="0"/>
                        <a:t>", "</a:t>
                      </a:r>
                      <a:r>
                        <a:rPr lang="en-US" altLang="ko-KR" sz="2000" b="0" dirty="0" err="1"/>
                        <a:t>url</a:t>
                      </a:r>
                      <a:r>
                        <a:rPr lang="en-US" altLang="ko-KR" sz="2000" b="0" dirty="0"/>
                        <a:t>": "/</a:t>
                      </a:r>
                      <a:r>
                        <a:rPr lang="en-US" altLang="ko-KR" sz="2000" b="0" dirty="0" err="1"/>
                        <a:t>api</a:t>
                      </a:r>
                      <a:r>
                        <a:rPr lang="en-US" altLang="ko-KR" sz="2000" b="0" dirty="0"/>
                        <a:t>/images/2"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  } ] 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5257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HTTP/1.1 403 Forbidden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게시글을 수정할 권한이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309707"/>
                  </a:ext>
                </a:extLst>
              </a:tr>
              <a:tr h="15257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HTTP/1.1 404 Not Found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게시글을 찾을 수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722506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887632"/>
              </p:ext>
            </p:extLst>
          </p:nvPr>
        </p:nvGraphicFramePr>
        <p:xfrm>
          <a:off x="819533" y="807999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776554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477843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PUT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게시글 수정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345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6" y="2263207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DELETE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</a:p>
                    <a:p>
                      <a:pPr algn="ctr"/>
                      <a:r>
                        <a:rPr lang="en-US" altLang="ko-KR" sz="2000" dirty="0"/>
                        <a:t>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6" y="4183248"/>
          <a:ext cx="16648928" cy="546645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61260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HTTP/1.1 204 No Content</a:t>
                      </a:r>
                      <a:endParaRPr lang="en-US" altLang="ko-KR" sz="2000" b="0" dirty="0"/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612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HTTP/1.1 403 Forbidden</a:t>
                      </a:r>
                      <a:endParaRPr lang="en-US" altLang="ko-KR" sz="2000" b="0" dirty="0"/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게시글을 삭제할 권한이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404536"/>
                  </a:ext>
                </a:extLst>
              </a:tr>
              <a:tr h="1612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HTTP/1.1 404 Not Found</a:t>
                      </a:r>
                      <a:endParaRPr lang="en-US" altLang="ko-KR" sz="2000" b="0" dirty="0"/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  <a:p>
                      <a:pPr algn="ctr" latinLnBrk="1"/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게시글을 찾을 수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634787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878291"/>
              </p:ext>
            </p:extLst>
          </p:nvPr>
        </p:nvGraphicFramePr>
        <p:xfrm>
          <a:off x="819536" y="950044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804260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450137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DELETE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게시글 삭제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5889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1950460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POST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/boards/{id}/like 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3870501"/>
          <a:ext cx="16648928" cy="580027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189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 "id": 1, "title": "First Board",</a:t>
                      </a:r>
                    </a:p>
                    <a:p>
                      <a:r>
                        <a:rPr lang="en-US" altLang="ko-KR" sz="2000" dirty="0"/>
                        <a:t>  "content": "Content of the first board",</a:t>
                      </a:r>
                    </a:p>
                    <a:p>
                      <a:r>
                        <a:rPr lang="en-US" altLang="ko-KR" sz="2000" dirty="0"/>
                        <a:t>  "</a:t>
                      </a:r>
                      <a:r>
                        <a:rPr lang="en-US" altLang="ko-KR" sz="2000" dirty="0" err="1"/>
                        <a:t>authorNickname</a:t>
                      </a:r>
                      <a:r>
                        <a:rPr lang="en-US" altLang="ko-KR" sz="2000" dirty="0"/>
                        <a:t>": "Admin","</a:t>
                      </a:r>
                      <a:r>
                        <a:rPr lang="en-US" altLang="ko-KR" sz="2000" dirty="0" err="1"/>
                        <a:t>viewCount</a:t>
                      </a:r>
                      <a:r>
                        <a:rPr lang="en-US" altLang="ko-KR" sz="2000" dirty="0"/>
                        <a:t>": 11,</a:t>
                      </a:r>
                    </a:p>
                    <a:p>
                      <a:r>
                        <a:rPr lang="en-US" altLang="ko-KR" sz="2000" dirty="0"/>
                        <a:t>  "</a:t>
                      </a:r>
                      <a:r>
                        <a:rPr lang="en-US" altLang="ko-KR" sz="2000" dirty="0" err="1"/>
                        <a:t>likeCount</a:t>
                      </a:r>
                      <a:r>
                        <a:rPr lang="en-US" altLang="ko-KR" sz="2000" dirty="0"/>
                        <a:t>": 6,</a:t>
                      </a:r>
                    </a:p>
                    <a:p>
                      <a:r>
                        <a:rPr lang="en-US" altLang="ko-KR" sz="2000" dirty="0"/>
                        <a:t>  "images": [ {"id": 1,</a:t>
                      </a:r>
                    </a:p>
                    <a:p>
                      <a:r>
                        <a:rPr lang="en-US" altLang="ko-KR" sz="2000" dirty="0"/>
                        <a:t>      "filename": "image1.png",</a:t>
                      </a:r>
                    </a:p>
                    <a:p>
                      <a:r>
                        <a:rPr lang="en-US" altLang="ko-KR" sz="2000" dirty="0"/>
                        <a:t>      "</a:t>
                      </a:r>
                      <a:r>
                        <a:rPr lang="en-US" altLang="ko-KR" sz="2000" dirty="0" err="1"/>
                        <a:t>mimeType</a:t>
                      </a:r>
                      <a:r>
                        <a:rPr lang="en-US" altLang="ko-KR" sz="2000" dirty="0"/>
                        <a:t>": "image/</a:t>
                      </a:r>
                      <a:r>
                        <a:rPr lang="en-US" altLang="ko-KR" sz="2000" dirty="0" err="1"/>
                        <a:t>png</a:t>
                      </a:r>
                      <a:r>
                        <a:rPr lang="en-US" altLang="ko-KR" sz="2000" dirty="0"/>
                        <a:t>",</a:t>
                      </a:r>
                    </a:p>
                    <a:p>
                      <a:r>
                        <a:rPr lang="en-US" altLang="ko-KR" sz="2000" dirty="0"/>
                        <a:t>      "</a:t>
                      </a:r>
                      <a:r>
                        <a:rPr lang="en-US" altLang="ko-KR" sz="2000" dirty="0" err="1"/>
                        <a:t>url</a:t>
                      </a:r>
                      <a:r>
                        <a:rPr lang="en-US" altLang="ko-KR" sz="2000" dirty="0"/>
                        <a:t>": "/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/images/1"</a:t>
                      </a:r>
                    </a:p>
                    <a:p>
                      <a:r>
                        <a:rPr lang="en-US" altLang="ko-KR" sz="2000" dirty="0"/>
                        <a:t>    } ] } 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2418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HTTP/1.1 404 Not Found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</a:t>
                      </a:r>
                    </a:p>
                    <a:p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게시글을 찾을 수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84000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92473"/>
              </p:ext>
            </p:extLst>
          </p:nvPr>
        </p:nvGraphicFramePr>
        <p:xfrm>
          <a:off x="819534" y="637297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582590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671807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15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/boards/{id}/like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게시글 좋아요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712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396665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6" y="1709828"/>
          <a:ext cx="16648928" cy="185737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GET 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/comments/public/board/{</a:t>
                      </a:r>
                      <a:r>
                        <a:rPr lang="en-US" altLang="ko-KR" sz="2000" dirty="0" err="1"/>
                        <a:t>boardId</a:t>
                      </a:r>
                      <a:r>
                        <a:rPr lang="en-US" altLang="ko-KR" sz="2000" dirty="0"/>
                        <a:t>} </a:t>
                      </a:r>
                    </a:p>
                    <a:p>
                      <a:pPr algn="ctr"/>
                      <a:r>
                        <a:rPr lang="en-US" altLang="ko-KR" sz="2000" dirty="0"/>
                        <a:t>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6" y="3629869"/>
          <a:ext cx="16648928" cy="580027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189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[</a:t>
                      </a:r>
                    </a:p>
                    <a:p>
                      <a:r>
                        <a:rPr lang="en-US" altLang="ko-KR" sz="2000" dirty="0"/>
                        <a:t>  {</a:t>
                      </a:r>
                    </a:p>
                    <a:p>
                      <a:r>
                        <a:rPr lang="en-US" altLang="ko-KR" sz="2000" dirty="0"/>
                        <a:t>    "id": 1,</a:t>
                      </a:r>
                    </a:p>
                    <a:p>
                      <a:r>
                        <a:rPr lang="en-US" altLang="ko-KR" sz="2000" dirty="0"/>
                        <a:t>    "content": "This is a comment",</a:t>
                      </a:r>
                    </a:p>
                    <a:p>
                      <a:r>
                        <a:rPr lang="en-US" altLang="ko-KR" sz="2000" dirty="0"/>
                        <a:t>    "</a:t>
                      </a:r>
                      <a:r>
                        <a:rPr lang="en-US" altLang="ko-KR" sz="2000" dirty="0" err="1"/>
                        <a:t>authorNickname</a:t>
                      </a:r>
                      <a:r>
                        <a:rPr lang="en-US" altLang="ko-KR" sz="2000" dirty="0"/>
                        <a:t>": "Admin",</a:t>
                      </a:r>
                    </a:p>
                    <a:p>
                      <a:r>
                        <a:rPr lang="en-US" altLang="ko-KR" sz="2000" dirty="0"/>
                        <a:t>    "</a:t>
                      </a:r>
                      <a:r>
                        <a:rPr lang="en-US" altLang="ko-KR" sz="2000" dirty="0" err="1"/>
                        <a:t>likeCount</a:t>
                      </a:r>
                      <a:r>
                        <a:rPr lang="en-US" altLang="ko-KR" sz="2000" dirty="0"/>
                        <a:t>": 3,</a:t>
                      </a:r>
                    </a:p>
                    <a:p>
                      <a:r>
                        <a:rPr lang="en-US" altLang="ko-KR" sz="2000" dirty="0"/>
                        <a:t>    "</a:t>
                      </a:r>
                      <a:r>
                        <a:rPr lang="en-US" altLang="ko-KR" sz="2000" dirty="0" err="1"/>
                        <a:t>createdDate</a:t>
                      </a:r>
                      <a:r>
                        <a:rPr lang="en-US" altLang="ko-KR" sz="2000" dirty="0"/>
                        <a:t>": "2024-08-21T10:00:00"</a:t>
                      </a:r>
                    </a:p>
                    <a:p>
                      <a:r>
                        <a:rPr lang="en-US" altLang="ko-KR" sz="2000" dirty="0"/>
                        <a:t>  }</a:t>
                      </a:r>
                    </a:p>
                    <a:p>
                      <a:r>
                        <a:rPr lang="en-US" altLang="ko-KR" sz="2000" dirty="0"/>
                        <a:t>]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2418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HTTP/1.1 404 Not Found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</a:t>
                      </a:r>
                    </a:p>
                    <a:p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게시글을 찾을 수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302320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883398"/>
              </p:ext>
            </p:extLst>
          </p:nvPr>
        </p:nvGraphicFramePr>
        <p:xfrm>
          <a:off x="819536" y="396665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012078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242319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/comments/public/board/{</a:t>
                      </a:r>
                      <a:r>
                        <a:rPr lang="en-US" altLang="ko-KR" sz="2000" dirty="0" err="1"/>
                        <a:t>boardId</a:t>
                      </a:r>
                      <a:r>
                        <a:rPr lang="en-US" altLang="ko-KR" sz="2000" dirty="0"/>
                        <a:t>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게시글의 댓글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411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2479237"/>
          <a:ext cx="16648928" cy="268473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915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938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9788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/comments/create HTTP/1.1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{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"</a:t>
                      </a:r>
                      <a:r>
                        <a:rPr lang="en-US" alt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boardId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": 1,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"content": "This is a comment"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5472005"/>
          <a:ext cx="16648928" cy="4167807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923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4435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8870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HTTP/1.1 201 Created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"id": 1,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boardId</a:t>
                      </a:r>
                      <a:r>
                        <a:rPr lang="en-US" altLang="ko-KR" sz="2000" b="0" dirty="0"/>
                        <a:t>": 1,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"content": "</a:t>
                      </a:r>
                      <a:r>
                        <a:rPr lang="ko-KR" altLang="en-US" sz="2000" b="0" dirty="0"/>
                        <a:t>댓글 내용</a:t>
                      </a:r>
                      <a:r>
                        <a:rPr lang="en-US" altLang="ko-KR" sz="2000" b="0" dirty="0"/>
                        <a:t>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4935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HTTP/1.1 400 Bad Request</a:t>
                      </a:r>
                    </a:p>
                    <a:p>
                      <a:pPr algn="ctr" latinLnBrk="1"/>
                      <a:r>
                        <a:rPr lang="en-US" altLang="ko-KR" sz="2000" b="0" dirty="0"/>
                        <a:t>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잘못된 요청입니다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algn="l" latinLnBrk="1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33243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35974"/>
              </p:ext>
            </p:extLst>
          </p:nvPr>
        </p:nvGraphicFramePr>
        <p:xfrm>
          <a:off x="807800" y="996935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719014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535383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/comments/create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댓글 작성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908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6" y="2263207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PUT 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 </a:t>
                      </a:r>
                    </a:p>
                    <a:p>
                      <a:pPr algn="ctr"/>
                      <a:r>
                        <a:rPr lang="en-US" altLang="ko-KR" sz="2000" dirty="0"/>
                        <a:t>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{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  "content": "Updated comment"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6" y="4183248"/>
          <a:ext cx="16648928" cy="546645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61260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 "id": 1, "</a:t>
                      </a:r>
                      <a:r>
                        <a:rPr lang="en-US" altLang="ko-KR" sz="2000" dirty="0" err="1"/>
                        <a:t>boardId</a:t>
                      </a:r>
                      <a:r>
                        <a:rPr lang="en-US" altLang="ko-KR" sz="2000" dirty="0"/>
                        <a:t>": 1,</a:t>
                      </a:r>
                    </a:p>
                    <a:p>
                      <a:r>
                        <a:rPr lang="en-US" altLang="ko-KR" sz="2000" dirty="0"/>
                        <a:t>  "content": "Updated comment“ , "</a:t>
                      </a:r>
                      <a:r>
                        <a:rPr lang="en-US" altLang="ko-KR" sz="2000" dirty="0" err="1"/>
                        <a:t>authorNickname</a:t>
                      </a:r>
                      <a:r>
                        <a:rPr lang="en-US" altLang="ko-KR" sz="2000" dirty="0"/>
                        <a:t>": "Admin",</a:t>
                      </a:r>
                    </a:p>
                    <a:p>
                      <a:r>
                        <a:rPr lang="en-US" altLang="ko-KR" sz="2000" dirty="0"/>
                        <a:t>  "</a:t>
                      </a:r>
                      <a:r>
                        <a:rPr lang="en-US" altLang="ko-KR" sz="2000" dirty="0" err="1"/>
                        <a:t>likeCount</a:t>
                      </a:r>
                      <a:r>
                        <a:rPr lang="en-US" altLang="ko-KR" sz="2000" dirty="0"/>
                        <a:t>": 0, "</a:t>
                      </a:r>
                      <a:r>
                        <a:rPr lang="en-US" altLang="ko-KR" sz="2000" dirty="0" err="1"/>
                        <a:t>createdDate</a:t>
                      </a:r>
                      <a:r>
                        <a:rPr lang="en-US" altLang="ko-KR" sz="2000" dirty="0"/>
                        <a:t>": "2024-08-21T10:00:00",</a:t>
                      </a:r>
                    </a:p>
                    <a:p>
                      <a:r>
                        <a:rPr lang="en-US" altLang="ko-KR" sz="2000" dirty="0"/>
                        <a:t>  "</a:t>
                      </a:r>
                      <a:r>
                        <a:rPr lang="en-US" altLang="ko-KR" sz="2000" dirty="0" err="1"/>
                        <a:t>editedDate</a:t>
                      </a:r>
                      <a:r>
                        <a:rPr lang="en-US" altLang="ko-KR" sz="2000" dirty="0"/>
                        <a:t>": "2024-08-21T11:00:00"</a:t>
                      </a:r>
                    </a:p>
                    <a:p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612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HTTP/1.1 403 Forbidden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</a:t>
                      </a:r>
                    </a:p>
                    <a:p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댓글을 수정할 권한이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53315"/>
                  </a:ext>
                </a:extLst>
              </a:tr>
              <a:tr h="1612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HTTP/1.1 404 Not Found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</a:t>
                      </a:r>
                    </a:p>
                    <a:p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댓글을 찾을 수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702479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851519"/>
              </p:ext>
            </p:extLst>
          </p:nvPr>
        </p:nvGraphicFramePr>
        <p:xfrm>
          <a:off x="819536" y="950044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873533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38086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15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PUT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댓글 수정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468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303521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altLang="ko-KR" sz="2000" dirty="0"/>
                        <a:t>DELETE</a:t>
                      </a:r>
                    </a:p>
                    <a:p>
                      <a:pPr algn="ctr"/>
                      <a:r>
                        <a:rPr lang="it-IT" altLang="ko-KR" sz="2000" dirty="0"/>
                        <a:t>/api/comments/{id}</a:t>
                      </a:r>
                    </a:p>
                    <a:p>
                      <a:pPr algn="ctr"/>
                      <a:r>
                        <a:rPr lang="it-IT" altLang="ko-KR" sz="2000" dirty="0"/>
                        <a:t>HTTP/1.1</a:t>
                      </a:r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Authorization: Bearer </a:t>
                      </a:r>
                      <a:r>
                        <a:rPr lang="en-US" altLang="ko-KR" sz="2000" dirty="0" err="1"/>
                        <a:t>jwt_token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294405"/>
          <a:ext cx="16648928" cy="546645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61260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HTTP/1.1 204 No Content (</a:t>
                      </a:r>
                      <a:r>
                        <a:rPr lang="ko-KR" altLang="en-US" sz="2000" dirty="0"/>
                        <a:t>성공 시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없음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/>
                        <a:t>없음</a:t>
                      </a:r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1612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HTTP/1.1 401 Forbidden 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2000" dirty="0"/>
                        <a:t>{</a:t>
                      </a:r>
                    </a:p>
                    <a:p>
                      <a:pPr algn="l"/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댓글을 삭제할 권한이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pPr algn="l"/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92514"/>
                  </a:ext>
                </a:extLst>
              </a:tr>
              <a:tr h="1612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HTTP/1.1 404 Not Found (</a:t>
                      </a:r>
                      <a:r>
                        <a:rPr lang="ko-KR" altLang="en-US" sz="2000" dirty="0"/>
                        <a:t>댓글을 찾을 수 없을 때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2000" dirty="0"/>
                        <a:t>{</a:t>
                      </a:r>
                    </a:p>
                    <a:p>
                      <a:pPr algn="l"/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댓글을 찾을 수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pPr algn="l"/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40839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3039"/>
              </p:ext>
            </p:extLst>
          </p:nvPr>
        </p:nvGraphicFramePr>
        <p:xfrm>
          <a:off x="819533" y="974280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901245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353152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DELETE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댓글 삭제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1568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303521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POST 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/comments/{id}/like 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294405"/>
          <a:ext cx="16648928" cy="549547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189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b="0" dirty="0"/>
                        <a:t>HTTP/1.1 200 OK</a:t>
                      </a:r>
                    </a:p>
                    <a:p>
                      <a:pPr algn="ctr"/>
                      <a:r>
                        <a:rPr lang="en-US" altLang="ko-KR" sz="2000" b="0" dirty="0"/>
                        <a:t> (</a:t>
                      </a:r>
                      <a:r>
                        <a:rPr lang="ko-KR" altLang="en-US" sz="2000" b="0" dirty="0"/>
                        <a:t>성공</a:t>
                      </a:r>
                      <a:r>
                        <a:rPr lang="en-US" altLang="ko-KR" sz="2000" b="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dirty="0"/>
                        <a:t>{</a:t>
                      </a:r>
                    </a:p>
                    <a:p>
                      <a:r>
                        <a:rPr lang="en-US" altLang="ko-KR" sz="2000" b="0" dirty="0"/>
                        <a:t>  "id": 1,</a:t>
                      </a:r>
                    </a:p>
                    <a:p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boardId</a:t>
                      </a:r>
                      <a:r>
                        <a:rPr lang="en-US" altLang="ko-KR" sz="2000" b="0" dirty="0"/>
                        <a:t>": 1,</a:t>
                      </a:r>
                    </a:p>
                    <a:p>
                      <a:r>
                        <a:rPr lang="en-US" altLang="ko-KR" sz="2000" b="0" dirty="0"/>
                        <a:t>  "content": "This is a comment",</a:t>
                      </a:r>
                    </a:p>
                    <a:p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authorNickname</a:t>
                      </a:r>
                      <a:r>
                        <a:rPr lang="en-US" altLang="ko-KR" sz="2000" b="0" dirty="0"/>
                        <a:t>": "Admin",</a:t>
                      </a:r>
                    </a:p>
                    <a:p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likeCount</a:t>
                      </a:r>
                      <a:r>
                        <a:rPr lang="en-US" altLang="ko-KR" sz="2000" b="0" dirty="0"/>
                        <a:t>": 1,</a:t>
                      </a:r>
                    </a:p>
                    <a:p>
                      <a:r>
                        <a:rPr lang="en-US" altLang="ko-KR" sz="2000" b="0" dirty="0"/>
                        <a:t>  "</a:t>
                      </a:r>
                      <a:r>
                        <a:rPr lang="en-US" altLang="ko-KR" sz="2000" b="0" dirty="0" err="1"/>
                        <a:t>createdDate</a:t>
                      </a:r>
                      <a:r>
                        <a:rPr lang="en-US" altLang="ko-KR" sz="2000" b="0" dirty="0"/>
                        <a:t>": "2024-08-21T10:00:00"</a:t>
                      </a:r>
                    </a:p>
                    <a:p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2418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dirty="0"/>
                        <a:t>HTTP/1.1 404 Not Found (</a:t>
                      </a:r>
                      <a:r>
                        <a:rPr lang="ko-KR" altLang="en-US" sz="2000" b="0" dirty="0"/>
                        <a:t>실패</a:t>
                      </a:r>
                      <a:r>
                        <a:rPr lang="en-US" altLang="ko-KR" sz="2000" b="0" dirty="0"/>
                        <a:t>)</a:t>
                      </a:r>
                    </a:p>
                    <a:p>
                      <a:pPr algn="ctr"/>
                      <a:endParaRPr lang="en-US" altLang="ko-KR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/>
                        <a:t>Content-Type: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000" b="0" dirty="0"/>
                        <a:t>{</a:t>
                      </a:r>
                    </a:p>
                    <a:p>
                      <a:pPr rtl="0"/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댓글을 찾을 수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pPr rtl="0"/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30083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01503"/>
              </p:ext>
            </p:extLst>
          </p:nvPr>
        </p:nvGraphicFramePr>
        <p:xfrm>
          <a:off x="819533" y="974280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762700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491697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17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POST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/comments/{id}/like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댓글 좋아요 증가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588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303521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GET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/images/{id} </a:t>
                      </a:r>
                    </a:p>
                    <a:p>
                      <a:pPr algn="ctr"/>
                      <a:r>
                        <a:rPr lang="en-US" altLang="ko-KR" sz="2000" dirty="0"/>
                        <a:t>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image/</a:t>
                      </a:r>
                      <a:r>
                        <a:rPr lang="en-US" altLang="ko-KR" sz="2000" dirty="0" err="1"/>
                        <a:t>png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294405"/>
          <a:ext cx="16648928" cy="5466456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189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image/</a:t>
                      </a:r>
                      <a:r>
                        <a:rPr lang="en-US" altLang="ko-KR" sz="2000" dirty="0" err="1"/>
                        <a:t>png</a:t>
                      </a:r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이미지 데이터 </a:t>
                      </a:r>
                      <a:r>
                        <a:rPr lang="en-US" altLang="ko-KR" sz="2000" dirty="0"/>
                        <a:t>(byte[])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2418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HTTP/1.1 404 Not Found (</a:t>
                      </a:r>
                      <a:r>
                        <a:rPr lang="ko-KR" altLang="en-US" sz="2000" dirty="0"/>
                        <a:t>실패 </a:t>
                      </a:r>
                      <a:r>
                        <a:rPr lang="en-US" altLang="ko-KR" sz="2000" dirty="0"/>
                        <a:t>)</a:t>
                      </a:r>
                    </a:p>
                    <a:p>
                      <a:pPr algn="ctr"/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application/json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</a:t>
                      </a:r>
                    </a:p>
                    <a:p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이미지를 찾을 수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912508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583654"/>
              </p:ext>
            </p:extLst>
          </p:nvPr>
        </p:nvGraphicFramePr>
        <p:xfrm>
          <a:off x="819533" y="974280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554881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699516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18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/images/{id}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이미지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BoardDetail-01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125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303521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GET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/locations/all</a:t>
                      </a:r>
                    </a:p>
                    <a:p>
                      <a:pPr algn="ctr"/>
                      <a:r>
                        <a:rPr lang="en-US" altLang="ko-KR" sz="2000" dirty="0"/>
                        <a:t>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41269"/>
              </p:ext>
            </p:extLst>
          </p:nvPr>
        </p:nvGraphicFramePr>
        <p:xfrm>
          <a:off x="819534" y="4294405"/>
          <a:ext cx="16648928" cy="5514975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48378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 시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application/json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dirty="0"/>
                        <a:t>[{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dataNo</a:t>
                      </a:r>
                      <a:r>
                        <a:rPr lang="en-US" altLang="ko-KR" sz="2000" b="0" dirty="0"/>
                        <a:t>": 1,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keyId</a:t>
                      </a:r>
                      <a:r>
                        <a:rPr lang="en-US" altLang="ko-KR" sz="2000" b="0" dirty="0"/>
                        <a:t>": 1001, "</a:t>
                      </a:r>
                      <a:r>
                        <a:rPr lang="en-US" altLang="ko-KR" sz="2000" b="0" dirty="0" err="1"/>
                        <a:t>ctprvnNm</a:t>
                      </a:r>
                      <a:r>
                        <a:rPr lang="en-US" altLang="ko-KR" sz="2000" b="0" dirty="0"/>
                        <a:t>": "Seoul",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signguNm</a:t>
                      </a:r>
                      <a:r>
                        <a:rPr lang="en-US" altLang="ko-KR" sz="2000" b="0" dirty="0"/>
                        <a:t>": "</a:t>
                      </a:r>
                      <a:r>
                        <a:rPr lang="en-US" altLang="ko-KR" sz="2000" b="0" dirty="0" err="1"/>
                        <a:t>Jongno-gu</a:t>
                      </a:r>
                      <a:r>
                        <a:rPr lang="en-US" altLang="ko-KR" sz="2000" b="0" dirty="0"/>
                        <a:t>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emdNm</a:t>
                      </a:r>
                      <a:r>
                        <a:rPr lang="en-US" altLang="ko-KR" sz="2000" b="0" dirty="0"/>
                        <a:t>": "</a:t>
                      </a:r>
                      <a:r>
                        <a:rPr lang="en-US" altLang="ko-KR" sz="2000" b="0" dirty="0" err="1"/>
                        <a:t>Samcheong</a:t>
                      </a:r>
                      <a:r>
                        <a:rPr lang="en-US" altLang="ko-KR" sz="2000" b="0" dirty="0"/>
                        <a:t>-dong",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areaClturTrrsrtNm</a:t>
                      </a:r>
                      <a:r>
                        <a:rPr lang="en-US" altLang="ko-KR" sz="2000" b="0" dirty="0"/>
                        <a:t>": "</a:t>
                      </a:r>
                      <a:r>
                        <a:rPr lang="en-US" altLang="ko-KR" sz="2000" b="0" dirty="0" err="1"/>
                        <a:t>Gyeongbokgung</a:t>
                      </a:r>
                      <a:r>
                        <a:rPr lang="en-US" altLang="ko-KR" sz="2000" b="0" dirty="0"/>
                        <a:t> Palace",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addr</a:t>
                      </a:r>
                      <a:r>
                        <a:rPr lang="en-US" altLang="ko-KR" sz="2000" b="0" dirty="0"/>
                        <a:t>": "161 </a:t>
                      </a:r>
                      <a:r>
                        <a:rPr lang="en-US" altLang="ko-KR" sz="2000" b="0" dirty="0" err="1"/>
                        <a:t>Sajik-ro</a:t>
                      </a:r>
                      <a:r>
                        <a:rPr lang="en-US" altLang="ko-KR" sz="2000" b="0" dirty="0"/>
                        <a:t>, </a:t>
                      </a:r>
                      <a:r>
                        <a:rPr lang="en-US" altLang="ko-KR" sz="2000" b="0" dirty="0" err="1"/>
                        <a:t>Jongno-gu</a:t>
                      </a:r>
                      <a:r>
                        <a:rPr lang="en-US" altLang="ko-KR" sz="2000" b="0" dirty="0"/>
                        <a:t>, Seoul",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trrsrtLa</a:t>
                      </a:r>
                      <a:r>
                        <a:rPr lang="en-US" altLang="ko-KR" sz="2000" b="0" dirty="0"/>
                        <a:t>": 37.5789, "</a:t>
                      </a:r>
                      <a:r>
                        <a:rPr lang="en-US" altLang="ko-KR" sz="2000" b="0" dirty="0" err="1"/>
                        <a:t>trrsrtLo</a:t>
                      </a:r>
                      <a:r>
                        <a:rPr lang="en-US" altLang="ko-KR" sz="2000" b="0" dirty="0"/>
                        <a:t>": 126.9770,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trrsrtClNm</a:t>
                      </a:r>
                      <a:r>
                        <a:rPr lang="en-US" altLang="ko-KR" sz="2000" b="0" dirty="0"/>
                        <a:t>": "Historical",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trrsrtStryNm</a:t>
                      </a:r>
                      <a:r>
                        <a:rPr lang="en-US" altLang="ko-KR" sz="2000" b="0" dirty="0"/>
                        <a:t>": "</a:t>
                      </a:r>
                      <a:r>
                        <a:rPr lang="en-US" altLang="ko-KR" sz="2000" b="0" dirty="0" err="1"/>
                        <a:t>Gyeongbokgung</a:t>
                      </a:r>
                      <a:r>
                        <a:rPr lang="en-US" altLang="ko-KR" sz="2000" b="0" dirty="0"/>
                        <a:t>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trrsrtStrySumryCn</a:t>
                      </a:r>
                      <a:r>
                        <a:rPr lang="en-US" altLang="ko-KR" sz="2000" b="0" dirty="0"/>
                        <a:t>": "The main royal palace of the Joseon dynasty.",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trrsrtStryUrl</a:t>
                      </a:r>
                      <a:r>
                        <a:rPr lang="en-US" altLang="ko-KR" sz="2000" b="0" dirty="0"/>
                        <a:t>": "http://example.com",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coreKwrdCn</a:t>
                      </a:r>
                      <a:r>
                        <a:rPr lang="en-US" altLang="ko-KR" sz="2000" b="0" dirty="0"/>
                        <a:t>": "Palace, History",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imageUrl</a:t>
                      </a:r>
                      <a:r>
                        <a:rPr lang="en-US" altLang="ko-KR" sz="2000" b="0" dirty="0"/>
                        <a:t>": "/</a:t>
                      </a:r>
                      <a:r>
                        <a:rPr lang="en-US" altLang="ko-KR" sz="2000" b="0" dirty="0" err="1"/>
                        <a:t>api</a:t>
                      </a:r>
                      <a:r>
                        <a:rPr lang="en-US" altLang="ko-KR" sz="2000" b="0" dirty="0"/>
                        <a:t>/locations/image/1"</a:t>
                      </a:r>
                    </a:p>
                    <a:p>
                      <a:r>
                        <a:rPr lang="en-US" altLang="ko-KR" sz="2000" b="0" dirty="0"/>
                        <a:t>  }]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740425"/>
              </p:ext>
            </p:extLst>
          </p:nvPr>
        </p:nvGraphicFramePr>
        <p:xfrm>
          <a:off x="819533" y="974280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5804263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245013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19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/locations/all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모든 위치 정보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TouristSpots-01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591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303521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GET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/locations/image/{id} 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image/</a:t>
                      </a:r>
                      <a:r>
                        <a:rPr lang="en-US" altLang="ko-KR" sz="2000" dirty="0" err="1"/>
                        <a:t>png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294405"/>
          <a:ext cx="16648928" cy="5466456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189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image/</a:t>
                      </a:r>
                      <a:r>
                        <a:rPr lang="en-US" altLang="ko-KR" sz="2000" dirty="0" err="1"/>
                        <a:t>png</a:t>
                      </a:r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이미지 데이터 </a:t>
                      </a:r>
                      <a:r>
                        <a:rPr lang="en-US" altLang="ko-KR" sz="2000" dirty="0"/>
                        <a:t>(byte[])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2418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HTTP/1.1 404 Not Found 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  <a:p>
                      <a:pPr algn="ctr"/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application/json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{</a:t>
                      </a:r>
                    </a:p>
                    <a:p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이미지를 찾을 수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82492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544045"/>
              </p:ext>
            </p:extLst>
          </p:nvPr>
        </p:nvGraphicFramePr>
        <p:xfrm>
          <a:off x="819533" y="974280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/locations/image/{id}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특정 위치 이미지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Map-01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853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303521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GET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tourtrans</a:t>
                      </a:r>
                      <a:r>
                        <a:rPr lang="en-US" altLang="ko-KR" sz="2000" dirty="0"/>
                        <a:t>/{</a:t>
                      </a:r>
                      <a:r>
                        <a:rPr lang="en-US" altLang="ko-KR" sz="2000" dirty="0" err="1"/>
                        <a:t>keyId</a:t>
                      </a:r>
                      <a:r>
                        <a:rPr lang="en-US" altLang="ko-KR" sz="2000" dirty="0"/>
                        <a:t>} 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Accept: application/json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294405"/>
          <a:ext cx="16648928" cy="5466456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189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</a:t>
                      </a:r>
                    </a:p>
                    <a:p>
                      <a:pPr algn="ctr"/>
                      <a:r>
                        <a:rPr lang="en-US" altLang="ko-KR" sz="2000" dirty="0"/>
                        <a:t> (</a:t>
                      </a:r>
                      <a:r>
                        <a:rPr lang="ko-KR" altLang="en-US" sz="2000" dirty="0"/>
                        <a:t>성공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application/json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/>
                        <a:t> { "</a:t>
                      </a:r>
                      <a:r>
                        <a:rPr lang="en-US" altLang="ko-KR" sz="2000" dirty="0" err="1"/>
                        <a:t>dataNo</a:t>
                      </a:r>
                      <a:r>
                        <a:rPr lang="en-US" altLang="ko-KR" sz="2000" dirty="0"/>
                        <a:t>": 1, "</a:t>
                      </a:r>
                      <a:r>
                        <a:rPr lang="en-US" altLang="ko-KR" sz="2000" dirty="0" err="1"/>
                        <a:t>keyId</a:t>
                      </a:r>
                      <a:r>
                        <a:rPr lang="en-US" altLang="ko-KR" sz="2000" dirty="0"/>
                        <a:t>": 1001, "value": "Tour Bus", "</a:t>
                      </a:r>
                      <a:r>
                        <a:rPr lang="en-US" altLang="ko-KR" sz="2000" dirty="0" err="1"/>
                        <a:t>pbtrnspClNm</a:t>
                      </a:r>
                      <a:r>
                        <a:rPr lang="en-US" altLang="ko-KR" sz="2000" dirty="0"/>
                        <a:t>": "Bus", "</a:t>
                      </a:r>
                      <a:r>
                        <a:rPr lang="en-US" altLang="ko-KR" sz="2000" dirty="0" err="1"/>
                        <a:t>pbtrnspFcltyNm</a:t>
                      </a:r>
                      <a:r>
                        <a:rPr lang="en-US" altLang="ko-KR" sz="2000" dirty="0"/>
                        <a:t>": "Tour Bus Stop", "</a:t>
                      </a:r>
                      <a:r>
                        <a:rPr lang="en-US" altLang="ko-KR" sz="2000" dirty="0" err="1"/>
                        <a:t>bstpNoNm</a:t>
                      </a:r>
                      <a:r>
                        <a:rPr lang="en-US" altLang="ko-KR" sz="2000" dirty="0"/>
                        <a:t>": "Stop 1", "</a:t>
                      </a:r>
                      <a:r>
                        <a:rPr lang="en-US" altLang="ko-KR" sz="2000" dirty="0" err="1"/>
                        <a:t>entrcNm</a:t>
                      </a:r>
                      <a:r>
                        <a:rPr lang="en-US" altLang="ko-KR" sz="2000" dirty="0"/>
                        <a:t>": "Main Gate", "</a:t>
                      </a:r>
                      <a:r>
                        <a:rPr lang="en-US" altLang="ko-KR" sz="2000" dirty="0" err="1"/>
                        <a:t>pbtrnspFcltyAddr</a:t>
                      </a:r>
                      <a:r>
                        <a:rPr lang="en-US" altLang="ko-KR" sz="2000" dirty="0"/>
                        <a:t>": "123 Main St, Seoul", "</a:t>
                      </a:r>
                      <a:r>
                        <a:rPr lang="en-US" altLang="ko-KR" sz="2000" dirty="0" err="1"/>
                        <a:t>fcltyLa</a:t>
                      </a:r>
                      <a:r>
                        <a:rPr lang="en-US" altLang="ko-KR" sz="2000" dirty="0"/>
                        <a:t>": 37.5665, "</a:t>
                      </a:r>
                      <a:r>
                        <a:rPr lang="en-US" altLang="ko-KR" sz="2000" dirty="0" err="1"/>
                        <a:t>fcltyLo</a:t>
                      </a:r>
                      <a:r>
                        <a:rPr lang="en-US" altLang="ko-KR" sz="2000" dirty="0"/>
                        <a:t>": 126.9780, "</a:t>
                      </a:r>
                      <a:r>
                        <a:rPr lang="en-US" altLang="ko-KR" sz="2000" dirty="0" err="1"/>
                        <a:t>dstncValue</a:t>
                      </a:r>
                      <a:r>
                        <a:rPr lang="en-US" altLang="ko-KR" sz="2000" dirty="0"/>
                        <a:t>": 200.0 } ] </a:t>
                      </a:r>
                    </a:p>
                    <a:p>
                      <a:endParaRPr lang="en-US" altLang="ko-KR" sz="2000" b="1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2418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HTTP/1.1 404 Not Found 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  <a:p>
                      <a:pPr algn="ctr"/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</a:p>
                    <a:p>
                      <a:pPr algn="ctr"/>
                      <a:endParaRPr lang="en-US" altLang="ko-KR" sz="200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2000" dirty="0"/>
                        <a:t>{</a:t>
                      </a:r>
                    </a:p>
                    <a:p>
                      <a:pPr rtl="0"/>
                      <a:r>
                        <a:rPr lang="en-US" altLang="ko-KR" sz="2000" dirty="0"/>
                        <a:t>  "error": "</a:t>
                      </a:r>
                      <a:r>
                        <a:rPr lang="ko-KR" altLang="en-US" sz="2000" dirty="0"/>
                        <a:t>해당 키에 대한 대중교통 정보를 찾을 수 없습니다</a:t>
                      </a:r>
                      <a:r>
                        <a:rPr lang="en-US" altLang="ko-KR" sz="2000" dirty="0"/>
                        <a:t>."</a:t>
                      </a:r>
                    </a:p>
                    <a:p>
                      <a:pPr rtl="0"/>
                      <a:r>
                        <a:rPr lang="en-US" altLang="ko-KR" sz="200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99795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30127"/>
              </p:ext>
            </p:extLst>
          </p:nvPr>
        </p:nvGraphicFramePr>
        <p:xfrm>
          <a:off x="819533" y="974280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23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tourtrans</a:t>
                      </a:r>
                      <a:r>
                        <a:rPr lang="en-US" altLang="ko-KR" sz="2000" dirty="0"/>
                        <a:t>/{</a:t>
                      </a:r>
                      <a:r>
                        <a:rPr lang="en-US" altLang="ko-KR" sz="2000" dirty="0" err="1"/>
                        <a:t>keyId</a:t>
                      </a:r>
                      <a:r>
                        <a:rPr lang="en-US" altLang="ko-KR" sz="2000" dirty="0"/>
                        <a:t>}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특정 관광지의 대중교통 정보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Map-01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233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4" y="637297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2496DD-9834-4096-A590-55BCC49CA42E}"/>
              </a:ext>
            </a:extLst>
          </p:cNvPr>
          <p:cNvGraphicFramePr>
            <a:graphicFrameLocks noGrp="1"/>
          </p:cNvGraphicFramePr>
          <p:nvPr/>
        </p:nvGraphicFramePr>
        <p:xfrm>
          <a:off x="819533" y="2303521"/>
          <a:ext cx="16648928" cy="1781148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7015696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4162232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Request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2068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11524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GET</a:t>
                      </a:r>
                    </a:p>
                    <a:p>
                      <a:pPr algn="ctr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tourtrans</a:t>
                      </a:r>
                      <a:r>
                        <a:rPr lang="en-US" altLang="ko-KR" sz="2000" dirty="0"/>
                        <a:t>/all</a:t>
                      </a:r>
                    </a:p>
                    <a:p>
                      <a:pPr algn="ctr"/>
                      <a:r>
                        <a:rPr lang="en-US" altLang="ko-KR" sz="2000" dirty="0"/>
                        <a:t>HTTP/1.1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Accept: application/json</a:t>
                      </a:r>
                      <a:endParaRPr lang="ko-KR" altLang="en-US" sz="2000" b="0" dirty="0"/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없음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1EFD1-D0EB-44CC-BE91-39744BDD17F7}"/>
              </a:ext>
            </a:extLst>
          </p:cNvPr>
          <p:cNvGraphicFramePr>
            <a:graphicFrameLocks noGrp="1"/>
          </p:cNvGraphicFramePr>
          <p:nvPr/>
        </p:nvGraphicFramePr>
        <p:xfrm>
          <a:off x="819534" y="4294405"/>
          <a:ext cx="16648928" cy="5466456"/>
        </p:xfrm>
        <a:graphic>
          <a:graphicData uri="http://schemas.openxmlformats.org/drawingml/2006/table">
            <a:tbl>
              <a:tblPr>
                <a:tableStyleId>{A8DD9129-B136-4D1E-8867-87446E5F62A1}</a:tableStyleId>
              </a:tblPr>
              <a:tblGrid>
                <a:gridCol w="2156300">
                  <a:extLst>
                    <a:ext uri="{9D8B030D-6E8A-4147-A177-3AD203B41FA5}">
                      <a16:colId xmlns:a16="http://schemas.microsoft.com/office/drawing/2014/main" val="397700663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946656468"/>
                    </a:ext>
                  </a:extLst>
                </a:gridCol>
                <a:gridCol w="4128813">
                  <a:extLst>
                    <a:ext uri="{9D8B030D-6E8A-4147-A177-3AD203B41FA5}">
                      <a16:colId xmlns:a16="http://schemas.microsoft.com/office/drawing/2014/main" val="3536367772"/>
                    </a:ext>
                  </a:extLst>
                </a:gridCol>
                <a:gridCol w="7049115">
                  <a:extLst>
                    <a:ext uri="{9D8B030D-6E8A-4147-A177-3AD203B41FA5}">
                      <a16:colId xmlns:a16="http://schemas.microsoft.com/office/drawing/2014/main" val="1208276145"/>
                    </a:ext>
                  </a:extLst>
                </a:gridCol>
              </a:tblGrid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분류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98439"/>
                  </a:ext>
                </a:extLst>
              </a:tr>
              <a:tr h="3020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Line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Body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73"/>
                  </a:ext>
                </a:extLst>
              </a:tr>
              <a:tr h="24189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내용</a:t>
                      </a:r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HTTP/1.1 200 OK 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성공 시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Content-Type: application/json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dirty="0"/>
                        <a:t>[</a:t>
                      </a:r>
                    </a:p>
                    <a:p>
                      <a:r>
                        <a:rPr lang="en-US" altLang="ko-KR" sz="2000" b="0" dirty="0"/>
                        <a:t>  {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dataNo</a:t>
                      </a:r>
                      <a:r>
                        <a:rPr lang="en-US" altLang="ko-KR" sz="2000" b="0" dirty="0"/>
                        <a:t>": 1,</a:t>
                      </a:r>
                    </a:p>
                    <a:p>
                      <a:r>
                        <a:rPr lang="en-US" altLang="ko-KR" sz="2000" b="0" dirty="0"/>
                        <a:t>    "value": "Value 1",</a:t>
                      </a:r>
                    </a:p>
                    <a:p>
                      <a:r>
                        <a:rPr lang="en-US" altLang="ko-KR" sz="2000" b="0" dirty="0"/>
                        <a:t>    "</a:t>
                      </a:r>
                      <a:r>
                        <a:rPr lang="en-US" altLang="ko-KR" sz="2000" b="0" dirty="0" err="1"/>
                        <a:t>transPortation</a:t>
                      </a:r>
                      <a:r>
                        <a:rPr lang="en-US" altLang="ko-KR" sz="2000" b="0" dirty="0"/>
                        <a:t>": "Bus"</a:t>
                      </a:r>
                    </a:p>
                    <a:p>
                      <a:r>
                        <a:rPr lang="en-US" altLang="ko-KR" sz="2000" b="0" dirty="0"/>
                        <a:t>  }</a:t>
                      </a:r>
                    </a:p>
                    <a:p>
                      <a:r>
                        <a:rPr lang="en-US" altLang="ko-KR" sz="2000" b="0" dirty="0"/>
                        <a:t>]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32450"/>
                  </a:ext>
                </a:extLst>
              </a:tr>
              <a:tr h="2418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/>
                        <a:t>HTTP/1.1 404 Not Found</a:t>
                      </a:r>
                    </a:p>
                    <a:p>
                      <a:pPr algn="ctr"/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실패</a:t>
                      </a:r>
                      <a:r>
                        <a:rPr lang="en-US" altLang="ko-KR" sz="2000" dirty="0"/>
                        <a:t>)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Content-Type: application/json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dirty="0"/>
                        <a:t>{</a:t>
                      </a:r>
                    </a:p>
                    <a:p>
                      <a:r>
                        <a:rPr lang="en-US" altLang="ko-KR" sz="2000" b="0" dirty="0"/>
                        <a:t>  "error": "</a:t>
                      </a:r>
                      <a:r>
                        <a:rPr lang="ko-KR" altLang="en-US" sz="2000" b="0" dirty="0"/>
                        <a:t>교통 정보를 찾을 수 없습니다</a:t>
                      </a:r>
                      <a:r>
                        <a:rPr lang="en-US" altLang="ko-KR" sz="2000" b="0" dirty="0"/>
                        <a:t>."</a:t>
                      </a:r>
                    </a:p>
                    <a:p>
                      <a:r>
                        <a:rPr lang="en-US" altLang="ko-KR" sz="2000" b="0" dirty="0"/>
                        <a:t>}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991724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F48B3CE0-D199-4267-AACC-FA1393143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427008"/>
              </p:ext>
            </p:extLst>
          </p:nvPr>
        </p:nvGraphicFramePr>
        <p:xfrm>
          <a:off x="819533" y="974280"/>
          <a:ext cx="16648928" cy="11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67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567133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5790931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6343159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911238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Index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Method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URI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화면</a:t>
                      </a:r>
                      <a:r>
                        <a:rPr lang="en-US" altLang="ko-KR" sz="2000" dirty="0"/>
                        <a:t>ID</a:t>
                      </a:r>
                      <a:endParaRPr lang="ko-KR" altLang="en-US" sz="2000" dirty="0"/>
                    </a:p>
                  </a:txBody>
                  <a:tcPr marL="144773" marR="144773" marT="72387" marB="72387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87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22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GET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api</a:t>
                      </a:r>
                      <a:r>
                        <a:rPr lang="en-US" altLang="ko-KR" sz="2000" dirty="0"/>
                        <a:t>/</a:t>
                      </a:r>
                      <a:r>
                        <a:rPr lang="en-US" altLang="ko-KR" sz="2000" dirty="0" err="1"/>
                        <a:t>tourtrans</a:t>
                      </a:r>
                      <a:r>
                        <a:rPr lang="en-US" altLang="ko-KR" sz="2000" dirty="0"/>
                        <a:t>/all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모든 대중교통 정보 조회</a:t>
                      </a:r>
                    </a:p>
                  </a:txBody>
                  <a:tcPr marL="144773" marR="144773" marT="72387" marB="7238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Map-01</a:t>
                      </a:r>
                      <a:endParaRPr lang="ko-KR" altLang="en-US" sz="2000" dirty="0"/>
                    </a:p>
                  </a:txBody>
                  <a:tcPr marL="144773" marR="144773" marT="72387" marB="72387"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590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4810" y="4344498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Data Base (DB)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설계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</p:spTree>
    <p:extLst>
      <p:ext uri="{BB962C8B-B14F-4D97-AF65-F5344CB8AC3E}">
        <p14:creationId xmlns:p14="http://schemas.microsoft.com/office/powerpoint/2010/main" val="1047130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-835803" y="0"/>
            <a:ext cx="8552785" cy="871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ERD</a:t>
            </a:r>
            <a:r>
              <a:rPr lang="en-US" sz="2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(Entity Relationship Diagram)</a:t>
            </a:r>
            <a:endParaRPr sz="2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7FFC56-DF71-4EC7-AC31-59AFE50A3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14" y="706583"/>
            <a:ext cx="18025104" cy="958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012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-835803" y="0"/>
            <a:ext cx="8552785" cy="871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ERD</a:t>
            </a:r>
            <a:r>
              <a:rPr lang="en-US" sz="2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(Entity Relationship Diagram)</a:t>
            </a:r>
            <a:endParaRPr sz="2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48EF45-BE9C-4BC2-957D-C3F3FE200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28" y="871648"/>
            <a:ext cx="16922731" cy="853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374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986D0F9-0533-C4A1-6F27-4186C879D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569753"/>
              </p:ext>
            </p:extLst>
          </p:nvPr>
        </p:nvGraphicFramePr>
        <p:xfrm>
          <a:off x="810489" y="2919536"/>
          <a:ext cx="16667019" cy="63595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1830975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3757473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706621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member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회원정보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 인덱스 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username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Unique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 이메일 아이디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password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 비밀번호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role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 구분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enabled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이메일 인증 여부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nickname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Unique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 닉네임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55190191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join_date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가입 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512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4019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986D0F9-0533-C4A1-6F27-4186C879D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37088"/>
              </p:ext>
            </p:extLst>
          </p:nvPr>
        </p:nvGraphicFramePr>
        <p:xfrm>
          <a:off x="831273" y="3115337"/>
          <a:ext cx="16667019" cy="56626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1830975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3757473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808947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token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토큰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토큰 인덱스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token_type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토큰 타입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token_value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토큰 값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expiry_date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토큰 발급 시간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member_id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발급된 토큰의 사용자 인덱스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3737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4810" y="725645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986D0F9-0533-C4A1-6F27-4186C879D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323126"/>
              </p:ext>
            </p:extLst>
          </p:nvPr>
        </p:nvGraphicFramePr>
        <p:xfrm>
          <a:off x="831273" y="2605873"/>
          <a:ext cx="16667019" cy="6673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3201819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386629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809145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board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게시판 목록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809145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게시물 인덱스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title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게시물 제목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게시물 내용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author_nickname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작성자 닉네임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author_id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작성자 인덱스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create_date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CURRENT_TIMESTAMP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작성 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9592184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update_date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CURRENT_TIMESTAMP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수정 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2826131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like_count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'0'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좋아요 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6546570"/>
                  </a:ext>
                </a:extLst>
              </a:tr>
              <a:tr h="56173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view_count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조회 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7542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4272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986D0F9-0533-C4A1-6F27-4186C879D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165573"/>
              </p:ext>
            </p:extLst>
          </p:nvPr>
        </p:nvGraphicFramePr>
        <p:xfrm>
          <a:off x="831273" y="3115337"/>
          <a:ext cx="16667019" cy="56626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1830975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3757473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808947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image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게시물 이미지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이미지 인덱스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LONGBLOB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이미지 파일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filename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파일 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board_id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이미지가 올라간 게시물 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mime_type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이미지 타입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8387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4810" y="499056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7CE4D7-578F-447F-A5F8-00B36FCAB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307611"/>
              </p:ext>
            </p:extLst>
          </p:nvPr>
        </p:nvGraphicFramePr>
        <p:xfrm>
          <a:off x="831273" y="2097059"/>
          <a:ext cx="16667019" cy="7561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3201819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386629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578549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comment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목록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인덱스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내용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is_edited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TINYINT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'0'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수정 여부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create_date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CURRENT_TIMESTAMP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작성 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edited_date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CURRENT_TIMESTAMP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댓글 수정 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like_count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'0'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좋아요 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9592184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board_id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작성된 댓글의 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게시물 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2826131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author_id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작성자 인덱스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6546570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author_nickname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작성자 닉네임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7542413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parent_comment_id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부모 댓글 인덱스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1346230"/>
                  </a:ext>
                </a:extLst>
              </a:tr>
              <a:tr h="578549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is_child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자식 댓글 여부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2585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3242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0" y="369236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1A6D48C-7F57-4517-846D-0115C8CD2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03087"/>
              </p:ext>
            </p:extLst>
          </p:nvPr>
        </p:nvGraphicFramePr>
        <p:xfrm>
          <a:off x="810489" y="1967238"/>
          <a:ext cx="16667019" cy="7539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3201819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386629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94187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location_info_data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정보 데이터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94187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DATA_NO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인덱스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키 인덱스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ctprvn_nm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광역시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Signgu_nm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시군구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emd_nm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읍면동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area_cltur_trrsrt_nm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9592184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addr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주소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2826131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TRRSRT_LA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위도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6546570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TRRSRT_LO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경도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7542413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trrsrt_cl_nm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분류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1346230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trrsrt_stry_nm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짧은 소개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2585862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trrsrt_stry_sumry_cn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긴 소개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479055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trrsrt_stry_url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소개주소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4291776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core_kwrd_cn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태그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4758218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image_url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이미지</a:t>
                      </a:r>
                      <a:r>
                        <a:rPr lang="en-US" altLang="ko-KR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url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8253018"/>
                  </a:ext>
                </a:extLst>
              </a:tr>
              <a:tr h="421833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image_data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LONGBLOB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이미지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1584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4038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0" y="369236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1A6D48C-7F57-4517-846D-0115C8CD2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523536"/>
              </p:ext>
            </p:extLst>
          </p:nvPr>
        </p:nvGraphicFramePr>
        <p:xfrm>
          <a:off x="810489" y="1967237"/>
          <a:ext cx="16667019" cy="74895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3201819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386629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527316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location_tour_trans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접근 대중교통 정보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524584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DATA_NO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대중교통 인덱스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 </a:t>
                      </a: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KEYID</a:t>
                      </a: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Value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대중교통 분류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PBTRNSP_CL_NM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대중교통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PBTRNSP_FCLTY_NM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정류장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BSTP_NO_NM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정류장 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9592184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ENTRC_NM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출구 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2826131"/>
                  </a:ext>
                </a:extLst>
              </a:tr>
              <a:tr h="823931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PBTRNSP_FCLTY_ADDR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정류장 주소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6546570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FCLTY_LA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정류장 위도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7542413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FCLTY_LO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DOUBLE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정류장 경도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1346230"/>
                  </a:ext>
                </a:extLst>
              </a:tr>
              <a:tr h="561375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DSTNC_VALUE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DOUBLE</a:t>
                      </a:r>
                      <a:endParaRPr 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관광지까지 거리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2585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0209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9;p15">
            <a:extLst>
              <a:ext uri="{FF2B5EF4-FFF2-40B4-BE49-F238E27FC236}">
                <a16:creationId xmlns:a16="http://schemas.microsoft.com/office/drawing/2014/main" id="{1B89F406-BA86-389F-B260-E26C13033CC6}"/>
              </a:ext>
            </a:extLst>
          </p:cNvPr>
          <p:cNvSpPr/>
          <p:nvPr/>
        </p:nvSpPr>
        <p:spPr>
          <a:xfrm>
            <a:off x="498406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22EC30B2-6607-4F36-C9A4-C59A3928DFB9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Table </a:t>
            </a: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rPr>
              <a:t>명세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986D0F9-0533-C4A1-6F27-4186C879D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30102"/>
              </p:ext>
            </p:extLst>
          </p:nvPr>
        </p:nvGraphicFramePr>
        <p:xfrm>
          <a:off x="831273" y="3115337"/>
          <a:ext cx="16667019" cy="4044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36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22130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2117562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2069797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67175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1830975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3757473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808947"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token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테이블 설명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0" algn="ctr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토큰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컬럼명</a:t>
                      </a:r>
                      <a:endParaRPr lang="ko-KR" alt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타입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길이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Default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설명</a:t>
                      </a:r>
                    </a:p>
                  </a:txBody>
                  <a:tcPr marL="9525" marR="9525" marT="9525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DATA_NO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NOT 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Primary Key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대중교통 인덱스</a:t>
                      </a: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Value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대중교통 분류 값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808947"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transportation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ko-KR" altLang="en-US" sz="20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rtl="0" font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20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대중교통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5590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/>
          <p:nvPr/>
        </p:nvSpPr>
        <p:spPr>
          <a:xfrm>
            <a:off x="448128" y="498406"/>
            <a:ext cx="17291187" cy="9290187"/>
          </a:xfrm>
          <a:custGeom>
            <a:avLst/>
            <a:gdLst/>
            <a:ahLst/>
            <a:cxnLst/>
            <a:rect l="l" t="t" r="r" b="b"/>
            <a:pathLst>
              <a:path w="4554058" h="2446798" extrusionOk="0">
                <a:moveTo>
                  <a:pt x="12984" y="0"/>
                </a:moveTo>
                <a:lnTo>
                  <a:pt x="4541073" y="0"/>
                </a:lnTo>
                <a:cubicBezTo>
                  <a:pt x="4544517" y="0"/>
                  <a:pt x="4547820" y="1368"/>
                  <a:pt x="4550255" y="3803"/>
                </a:cubicBezTo>
                <a:cubicBezTo>
                  <a:pt x="4552690" y="6238"/>
                  <a:pt x="4554058" y="9541"/>
                  <a:pt x="4554058" y="12984"/>
                </a:cubicBezTo>
                <a:lnTo>
                  <a:pt x="4554058" y="2433814"/>
                </a:lnTo>
                <a:cubicBezTo>
                  <a:pt x="4554058" y="2440985"/>
                  <a:pt x="4548244" y="2446798"/>
                  <a:pt x="4541073" y="2446798"/>
                </a:cubicBezTo>
                <a:lnTo>
                  <a:pt x="12984" y="2446798"/>
                </a:lnTo>
                <a:cubicBezTo>
                  <a:pt x="9541" y="2446798"/>
                  <a:pt x="6238" y="2445430"/>
                  <a:pt x="3803" y="2442995"/>
                </a:cubicBezTo>
                <a:cubicBezTo>
                  <a:pt x="1368" y="2440560"/>
                  <a:pt x="0" y="2437258"/>
                  <a:pt x="0" y="2433814"/>
                </a:cubicBezTo>
                <a:lnTo>
                  <a:pt x="0" y="12984"/>
                </a:lnTo>
                <a:cubicBezTo>
                  <a:pt x="0" y="5813"/>
                  <a:pt x="5813" y="0"/>
                  <a:pt x="12984" y="0"/>
                </a:cubicBezTo>
                <a:close/>
              </a:path>
            </a:pathLst>
          </a:custGeom>
          <a:solidFill>
            <a:srgbClr val="FFFFFF"/>
          </a:solidFill>
          <a:ln w="57150" cap="flat" cmpd="sng">
            <a:solidFill>
              <a:srgbClr val="4C6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9;p13">
            <a:extLst>
              <a:ext uri="{FF2B5EF4-FFF2-40B4-BE49-F238E27FC236}">
                <a16:creationId xmlns:a16="http://schemas.microsoft.com/office/drawing/2014/main" id="{D7DDD037-5B21-3335-060B-C1F9A6FC4A7E}"/>
              </a:ext>
            </a:extLst>
          </p:cNvPr>
          <p:cNvSpPr txBox="1"/>
          <p:nvPr/>
        </p:nvSpPr>
        <p:spPr>
          <a:xfrm>
            <a:off x="548685" y="1007871"/>
            <a:ext cx="17198378" cy="159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b="1" dirty="0">
                <a:solidFill>
                  <a:srgbClr val="4C6FBF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  <a:sym typeface="Heebo Black"/>
              </a:rPr>
              <a:t>결론 및 향후 발전</a:t>
            </a:r>
            <a:endParaRPr sz="8800" b="1" dirty="0">
              <a:solidFill>
                <a:srgbClr val="4C6FBF"/>
              </a:solidFill>
              <a:latin typeface="휴먼엑스포" panose="02030504000101010101" pitchFamily="18" charset="-127"/>
              <a:ea typeface="휴먼엑스포" panose="02030504000101010101" pitchFamily="18" charset="-127"/>
              <a:cs typeface="Heeb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6A48B-E523-531D-E9F0-934AAA168DCC}"/>
              </a:ext>
            </a:extLst>
          </p:cNvPr>
          <p:cNvSpPr txBox="1"/>
          <p:nvPr/>
        </p:nvSpPr>
        <p:spPr>
          <a:xfrm>
            <a:off x="440380" y="3115338"/>
            <a:ext cx="17291186" cy="663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1000"/>
              </a:lnSpc>
              <a:defRPr sz="3000">
                <a:solidFill>
                  <a:srgbClr val="7B96D4"/>
                </a:solidFill>
                <a:latin typeface="휴먼엑스포" panose="02030504000101010101" pitchFamily="18" charset="-127"/>
                <a:ea typeface="휴먼엑스포" panose="02030504000101010101" pitchFamily="18" charset="-127"/>
                <a:cs typeface="Heebo Black"/>
              </a:defRPr>
            </a:lvl1pPr>
            <a:lvl3pPr marL="605700" indent="-342900">
              <a:lnSpc>
                <a:spcPct val="120000"/>
              </a:lnSpc>
              <a:buFont typeface="Arial" panose="020B0604020202020204" pitchFamily="34" charset="0"/>
              <a:buChar char="•"/>
              <a:defRPr sz="2300">
                <a:latin typeface="휴먼엑스포" panose="02030504000101010101" pitchFamily="18" charset="-127"/>
                <a:ea typeface="휴먼엑스포" panose="02030504000101010101" pitchFamily="18" charset="-127"/>
                <a:cs typeface="Heebo"/>
              </a:defRPr>
            </a:lvl3pPr>
          </a:lstStyle>
          <a:p>
            <a:r>
              <a:rPr lang="en-US" altLang="ko-KR" b="1" dirty="0">
                <a:solidFill>
                  <a:srgbClr val="4C6FBF"/>
                </a:solidFill>
              </a:rPr>
              <a:t>  1. </a:t>
            </a:r>
            <a:r>
              <a:rPr lang="ko-KR" altLang="en-US" b="1" dirty="0">
                <a:solidFill>
                  <a:srgbClr val="4C6FBF"/>
                </a:solidFill>
              </a:rPr>
              <a:t>결론</a:t>
            </a:r>
          </a:p>
          <a:p>
            <a:pPr marL="262800" lvl="2" indent="0">
              <a:buNone/>
            </a:pPr>
            <a:r>
              <a:rPr lang="ko-KR" altLang="en-US" dirty="0"/>
              <a:t>프로젝트 상태</a:t>
            </a:r>
            <a:r>
              <a:rPr lang="en-US" altLang="ko-KR" dirty="0"/>
              <a:t>: </a:t>
            </a:r>
          </a:p>
          <a:p>
            <a:pPr marL="262800" lvl="2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현재 부산 도보 여행자를 위한 웹 애플리케이션이 완성되어</a:t>
            </a:r>
            <a:r>
              <a:rPr lang="en-US" altLang="ko-KR" dirty="0"/>
              <a:t>, </a:t>
            </a:r>
            <a:r>
              <a:rPr lang="ko-KR" altLang="en-US" dirty="0"/>
              <a:t>실시간 관광지 정보와 대중교통 정보를 제공</a:t>
            </a:r>
            <a:endParaRPr lang="en-US" altLang="ko-KR" dirty="0"/>
          </a:p>
          <a:p>
            <a:pPr marL="262800" lvl="2" indent="0">
              <a:buNone/>
            </a:pPr>
            <a:endParaRPr lang="en-US" altLang="ko-KR" dirty="0"/>
          </a:p>
          <a:p>
            <a:r>
              <a:rPr lang="en-US" altLang="ko-KR" b="1" dirty="0">
                <a:solidFill>
                  <a:srgbClr val="4C6FBF"/>
                </a:solidFill>
              </a:rPr>
              <a:t>  </a:t>
            </a:r>
            <a:r>
              <a:rPr lang="ko-KR" altLang="en-US" b="1" dirty="0">
                <a:solidFill>
                  <a:srgbClr val="4C6FBF"/>
                </a:solidFill>
              </a:rPr>
              <a:t>주요 성과</a:t>
            </a:r>
            <a:r>
              <a:rPr lang="en-US" altLang="ko-KR" b="1" dirty="0">
                <a:solidFill>
                  <a:srgbClr val="4C6FBF"/>
                </a:solidFill>
              </a:rPr>
              <a:t>:</a:t>
            </a:r>
          </a:p>
          <a:p>
            <a:pPr marL="262800" lvl="2" indent="0">
              <a:buNone/>
            </a:pPr>
            <a:r>
              <a:rPr lang="ko-KR" altLang="en-US" dirty="0"/>
              <a:t>사용자 친화적인 인터페이스 제공</a:t>
            </a:r>
          </a:p>
          <a:p>
            <a:pPr marL="262800" lvl="2" indent="0">
              <a:buNone/>
            </a:pPr>
            <a:r>
              <a:rPr lang="ko-KR" altLang="en-US" dirty="0"/>
              <a:t>안정적인 데이터 관리 및 보안 처리</a:t>
            </a:r>
          </a:p>
          <a:p>
            <a:pPr marL="262800" lvl="2" indent="0">
              <a:buNone/>
            </a:pPr>
            <a:r>
              <a:rPr lang="ko-KR" altLang="en-US" dirty="0"/>
              <a:t>정확한 정보 제공</a:t>
            </a:r>
            <a:endParaRPr lang="en-US" altLang="ko-KR" dirty="0"/>
          </a:p>
          <a:p>
            <a:pPr marL="262800" lvl="2" indent="0">
              <a:buNone/>
            </a:pPr>
            <a:endParaRPr lang="ko-KR" altLang="en-US" dirty="0"/>
          </a:p>
          <a:p>
            <a:r>
              <a:rPr lang="en-US" altLang="ko-KR" b="1" dirty="0">
                <a:solidFill>
                  <a:srgbClr val="4C6FBF"/>
                </a:solidFill>
              </a:rPr>
              <a:t>  2. </a:t>
            </a:r>
            <a:r>
              <a:rPr lang="ko-KR" altLang="en-US" b="1" dirty="0">
                <a:solidFill>
                  <a:srgbClr val="4C6FBF"/>
                </a:solidFill>
              </a:rPr>
              <a:t>향후 발전 방향</a:t>
            </a:r>
          </a:p>
          <a:p>
            <a:pPr marL="262800" lvl="2" indent="0">
              <a:buNone/>
            </a:pPr>
            <a:r>
              <a:rPr lang="ko-KR" altLang="en-US" dirty="0"/>
              <a:t>구현하지 못한 세부적인 기능 완성</a:t>
            </a:r>
            <a:endParaRPr lang="en-US" altLang="ko-KR" dirty="0"/>
          </a:p>
          <a:p>
            <a:pPr marL="262800" lvl="2" indent="0">
              <a:buNone/>
            </a:pPr>
            <a:r>
              <a:rPr lang="en-US" altLang="ko-KR" dirty="0"/>
              <a:t>UI/UX </a:t>
            </a:r>
            <a:r>
              <a:rPr lang="ko-KR" altLang="en-US" dirty="0"/>
              <a:t>개선 및 새로운 기능 추가</a:t>
            </a:r>
            <a:endParaRPr lang="en-US" altLang="ko-KR" dirty="0"/>
          </a:p>
          <a:p>
            <a:pPr marL="262800" lvl="2" indent="0">
              <a:buNone/>
            </a:pPr>
            <a:r>
              <a:rPr lang="ko-KR" altLang="en-US" dirty="0"/>
              <a:t>대중교통 정보를 실시간으로 업데이트하여 더 정확한 정보를 제공</a:t>
            </a:r>
            <a:endParaRPr lang="en-US" altLang="ko-KR" dirty="0"/>
          </a:p>
          <a:p>
            <a:pPr marL="262800" lvl="2" indent="0">
              <a:buNone/>
            </a:pPr>
            <a:r>
              <a:rPr lang="ko-KR" altLang="en-US" dirty="0"/>
              <a:t>사용자의 위치 및 선호도를 기반으로 한 맞춤형 관광지 대중교통 경로 추천 시스템 개발을 검토</a:t>
            </a:r>
            <a:endParaRPr lang="en-US" altLang="ko-KR" dirty="0"/>
          </a:p>
          <a:p>
            <a:pPr marL="262800" lvl="2" indent="0">
              <a:buNone/>
            </a:pPr>
            <a:r>
              <a:rPr lang="ko-KR" altLang="en-US" dirty="0"/>
              <a:t>더욱 정밀한 오류와 예외처리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057575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33"/>
          <p:cNvGrpSpPr/>
          <p:nvPr/>
        </p:nvGrpSpPr>
        <p:grpSpPr>
          <a:xfrm>
            <a:off x="498406" y="353745"/>
            <a:ext cx="17291187" cy="9434848"/>
            <a:chOff x="0" y="-38100"/>
            <a:chExt cx="4554058" cy="2484898"/>
          </a:xfrm>
        </p:grpSpPr>
        <p:sp>
          <p:nvSpPr>
            <p:cNvPr id="698" name="Google Shape;698;p33"/>
            <p:cNvSpPr/>
            <p:nvPr/>
          </p:nvSpPr>
          <p:spPr>
            <a:xfrm>
              <a:off x="0" y="0"/>
              <a:ext cx="4554058" cy="2446798"/>
            </a:xfrm>
            <a:custGeom>
              <a:avLst/>
              <a:gdLst/>
              <a:ahLst/>
              <a:cxnLst/>
              <a:rect l="l" t="t" r="r" b="b"/>
              <a:pathLst>
                <a:path w="4554058" h="2446798" extrusionOk="0">
                  <a:moveTo>
                    <a:pt x="12984" y="0"/>
                  </a:moveTo>
                  <a:lnTo>
                    <a:pt x="4541073" y="0"/>
                  </a:lnTo>
                  <a:cubicBezTo>
                    <a:pt x="4544517" y="0"/>
                    <a:pt x="4547820" y="1368"/>
                    <a:pt x="4550255" y="3803"/>
                  </a:cubicBezTo>
                  <a:cubicBezTo>
                    <a:pt x="4552690" y="6238"/>
                    <a:pt x="4554058" y="9541"/>
                    <a:pt x="4554058" y="12984"/>
                  </a:cubicBezTo>
                  <a:lnTo>
                    <a:pt x="4554058" y="2433814"/>
                  </a:lnTo>
                  <a:cubicBezTo>
                    <a:pt x="4554058" y="2440985"/>
                    <a:pt x="4548244" y="2446798"/>
                    <a:pt x="4541073" y="2446798"/>
                  </a:cubicBezTo>
                  <a:lnTo>
                    <a:pt x="12984" y="2446798"/>
                  </a:lnTo>
                  <a:cubicBezTo>
                    <a:pt x="9541" y="2446798"/>
                    <a:pt x="6238" y="2445430"/>
                    <a:pt x="3803" y="2442995"/>
                  </a:cubicBezTo>
                  <a:cubicBezTo>
                    <a:pt x="1368" y="2440560"/>
                    <a:pt x="0" y="2437258"/>
                    <a:pt x="0" y="2433814"/>
                  </a:cubicBezTo>
                  <a:lnTo>
                    <a:pt x="0" y="12984"/>
                  </a:lnTo>
                  <a:cubicBezTo>
                    <a:pt x="0" y="5813"/>
                    <a:pt x="5813" y="0"/>
                    <a:pt x="12984" y="0"/>
                  </a:cubicBezTo>
                  <a:close/>
                </a:path>
              </a:pathLst>
            </a:custGeom>
            <a:solidFill>
              <a:srgbClr val="FFFFFF"/>
            </a:solidFill>
            <a:ln w="57150" cap="flat" cmpd="sng">
              <a:solidFill>
                <a:srgbClr val="4C6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1" name="Google Shape;701;p33"/>
          <p:cNvSpPr txBox="1"/>
          <p:nvPr/>
        </p:nvSpPr>
        <p:spPr>
          <a:xfrm>
            <a:off x="9047043" y="1363382"/>
            <a:ext cx="7544400" cy="4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35" b="0" i="0" u="none" strike="noStrike" cap="none" dirty="0">
                <a:solidFill>
                  <a:srgbClr val="7B96D4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  <a:endParaRPr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AD3496-6C52-8E18-B6C8-8BA0C090E2D7}"/>
              </a:ext>
            </a:extLst>
          </p:cNvPr>
          <p:cNvSpPr/>
          <p:nvPr/>
        </p:nvSpPr>
        <p:spPr>
          <a:xfrm>
            <a:off x="4147005" y="2835175"/>
            <a:ext cx="4337538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30000" dirty="0">
                <a:solidFill>
                  <a:srgbClr val="7B96D4"/>
                </a:solidFill>
                <a:latin typeface="Heebo Black"/>
                <a:cs typeface="Heebo Black"/>
              </a:rPr>
              <a:t>Q</a:t>
            </a:r>
            <a:endParaRPr lang="ko-KR" altLang="en-US" sz="30000" dirty="0">
              <a:solidFill>
                <a:srgbClr val="7B96D4"/>
              </a:solidFill>
              <a:latin typeface="Heebo Black"/>
              <a:cs typeface="Heebo Blac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33"/>
          <p:cNvGrpSpPr/>
          <p:nvPr/>
        </p:nvGrpSpPr>
        <p:grpSpPr>
          <a:xfrm>
            <a:off x="498406" y="353745"/>
            <a:ext cx="17291187" cy="9434848"/>
            <a:chOff x="0" y="-38100"/>
            <a:chExt cx="4554058" cy="2484898"/>
          </a:xfrm>
        </p:grpSpPr>
        <p:sp>
          <p:nvSpPr>
            <p:cNvPr id="698" name="Google Shape;698;p33"/>
            <p:cNvSpPr/>
            <p:nvPr/>
          </p:nvSpPr>
          <p:spPr>
            <a:xfrm>
              <a:off x="0" y="0"/>
              <a:ext cx="4554058" cy="2446798"/>
            </a:xfrm>
            <a:custGeom>
              <a:avLst/>
              <a:gdLst/>
              <a:ahLst/>
              <a:cxnLst/>
              <a:rect l="l" t="t" r="r" b="b"/>
              <a:pathLst>
                <a:path w="4554058" h="2446798" extrusionOk="0">
                  <a:moveTo>
                    <a:pt x="12984" y="0"/>
                  </a:moveTo>
                  <a:lnTo>
                    <a:pt x="4541073" y="0"/>
                  </a:lnTo>
                  <a:cubicBezTo>
                    <a:pt x="4544517" y="0"/>
                    <a:pt x="4547820" y="1368"/>
                    <a:pt x="4550255" y="3803"/>
                  </a:cubicBezTo>
                  <a:cubicBezTo>
                    <a:pt x="4552690" y="6238"/>
                    <a:pt x="4554058" y="9541"/>
                    <a:pt x="4554058" y="12984"/>
                  </a:cubicBezTo>
                  <a:lnTo>
                    <a:pt x="4554058" y="2433814"/>
                  </a:lnTo>
                  <a:cubicBezTo>
                    <a:pt x="4554058" y="2440985"/>
                    <a:pt x="4548244" y="2446798"/>
                    <a:pt x="4541073" y="2446798"/>
                  </a:cubicBezTo>
                  <a:lnTo>
                    <a:pt x="12984" y="2446798"/>
                  </a:lnTo>
                  <a:cubicBezTo>
                    <a:pt x="9541" y="2446798"/>
                    <a:pt x="6238" y="2445430"/>
                    <a:pt x="3803" y="2442995"/>
                  </a:cubicBezTo>
                  <a:cubicBezTo>
                    <a:pt x="1368" y="2440560"/>
                    <a:pt x="0" y="2437258"/>
                    <a:pt x="0" y="2433814"/>
                  </a:cubicBezTo>
                  <a:lnTo>
                    <a:pt x="0" y="12984"/>
                  </a:lnTo>
                  <a:cubicBezTo>
                    <a:pt x="0" y="5813"/>
                    <a:pt x="5813" y="0"/>
                    <a:pt x="12984" y="0"/>
                  </a:cubicBezTo>
                  <a:close/>
                </a:path>
              </a:pathLst>
            </a:custGeom>
            <a:solidFill>
              <a:srgbClr val="FFFFFF"/>
            </a:solidFill>
            <a:ln w="57150" cap="flat" cmpd="sng">
              <a:solidFill>
                <a:srgbClr val="4C6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0555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2350</TotalTime>
  <Words>8540</Words>
  <Application>Microsoft Office PowerPoint</Application>
  <PresentationFormat>사용자 지정</PresentationFormat>
  <Paragraphs>2289</Paragraphs>
  <Slides>63</Slides>
  <Notes>63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2" baseType="lpstr">
      <vt:lpstr>Heebo Black</vt:lpstr>
      <vt:lpstr>Arial</vt:lpstr>
      <vt:lpstr>Calibri</vt:lpstr>
      <vt:lpstr>맑은 고딕</vt:lpstr>
      <vt:lpstr>Gulim</vt:lpstr>
      <vt:lpstr>Heebo</vt:lpstr>
      <vt:lpstr>맑은 고딕</vt:lpstr>
      <vt:lpstr>휴먼엑스포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DH</dc:creator>
  <cp:lastModifiedBy>Dongheon Park</cp:lastModifiedBy>
  <cp:revision>222</cp:revision>
  <dcterms:modified xsi:type="dcterms:W3CDTF">2024-08-22T18:54:38Z</dcterms:modified>
</cp:coreProperties>
</file>